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C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1828800" cy="13716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3931920"/>
            <a:ext cx="9144000" cy="7315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学生校内双证管理系统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880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BBDD"/>
                </a:solidFill>
                <a:latin typeface="Microsoft YaHei"/>
              </a:defRPr>
            </a:pPr>
            <a:r>
              <a:t>Dual Certificate Management System for Students on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8C"/>
                </a:solidFill>
                <a:latin typeface="Microsoft YaHei"/>
              </a:defRPr>
            </a:pPr>
            <a:r>
              <a:t>人社证书 · 专业证书 · 校内引进证书   |   报名 → 考试 → AI审核 → 归档  全流程管理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8C"/>
                </a:solidFill>
                <a:latin typeface="Microsoft YaHei"/>
              </a:defRPr>
            </a:pPr>
            <a:r>
              <a:t>技术栈：React 18 + TypeScript + Ant Design 5   |   Node.js + Express + SQLite   |   AI 智能审核引擎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FF"/>
                </a:solidFill>
                <a:latin typeface="Microsoft YaHei"/>
              </a:defRPr>
            </a:pPr>
            <a:r>
              <a:t>Project Background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731520"/>
            <a:ext cx="6675120" cy="256032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91440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77FF"/>
                </a:solidFill>
                <a:latin typeface="Microsoft YaHei"/>
              </a:defRPr>
            </a:pPr>
            <a:r>
              <a:t>🎯 核心痛点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7160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2"/>
              </a:spcAft>
              <a:defRPr sz="1200">
                <a:solidFill>
                  <a:srgbClr val="262626"/>
                </a:solidFill>
                <a:latin typeface="Microsoft YaHei"/>
              </a:defRPr>
            </a:pPr>
            <a:r>
              <a:t>• 学校内部多种证书管理混乱，人社、专业、校内引进三种类型各自为政</a:t>
            </a:r>
          </a:p>
          <a:p>
            <a:pPr>
              <a:spcAft>
                <a:spcPts val="672"/>
              </a:spcAft>
              <a:defRPr sz="1200">
                <a:solidFill>
                  <a:srgbClr val="262626"/>
                </a:solidFill>
                <a:latin typeface="Microsoft YaHei"/>
              </a:defRPr>
            </a:pPr>
            <a:r>
              <a:t>• 报名、考试、取证全流程依赖纸质表格和人工传递</a:t>
            </a:r>
          </a:p>
          <a:p>
            <a:pPr>
              <a:spcAft>
                <a:spcPts val="672"/>
              </a:spcAft>
              <a:defRPr sz="1200">
                <a:solidFill>
                  <a:srgbClr val="262626"/>
                </a:solidFill>
                <a:latin typeface="Microsoft YaHei"/>
              </a:defRPr>
            </a:pPr>
            <a:r>
              <a:t>• 成绩审核缺乏统一标准，审核效率低</a:t>
            </a:r>
          </a:p>
          <a:p>
            <a:pPr>
              <a:spcAft>
                <a:spcPts val="672"/>
              </a:spcAft>
              <a:defRPr sz="1200">
                <a:solidFill>
                  <a:srgbClr val="262626"/>
                </a:solidFill>
                <a:latin typeface="Microsoft YaHei"/>
              </a:defRPr>
            </a:pPr>
            <a:r>
              <a:t>• 证书获取数据分散在多个系统，无法统一查询统计</a:t>
            </a:r>
          </a:p>
          <a:p>
            <a:pPr>
              <a:spcAft>
                <a:spcPts val="672"/>
              </a:spcAft>
              <a:defRPr sz="1200">
                <a:solidFill>
                  <a:srgbClr val="262626"/>
                </a:solidFill>
                <a:latin typeface="Microsoft YaHei"/>
              </a:defRPr>
            </a:pPr>
            <a:r>
              <a:t>• 培训信息和辅导材料缺少统一公示平台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3657600"/>
            <a:ext cx="6675120" cy="27432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384048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2C41A"/>
                </a:solidFill>
                <a:latin typeface="Microsoft YaHei"/>
              </a:defRPr>
            </a:pPr>
            <a:r>
              <a:t>✅ 系统目标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297680"/>
            <a:ext cx="6217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2"/>
              </a:spcAft>
              <a:defRPr sz="1200">
                <a:solidFill>
                  <a:srgbClr val="262626"/>
                </a:solidFill>
                <a:latin typeface="Microsoft YaHei"/>
              </a:defRPr>
            </a:pPr>
            <a:r>
              <a:t>• 建立统一的校内双证管理平台，覆盖人社、专业、校内引进三种证书类型</a:t>
            </a:r>
          </a:p>
          <a:p>
            <a:pPr>
              <a:spcAft>
                <a:spcPts val="672"/>
              </a:spcAft>
              <a:defRPr sz="1200">
                <a:solidFill>
                  <a:srgbClr val="262626"/>
                </a:solidFill>
                <a:latin typeface="Microsoft YaHei"/>
              </a:defRPr>
            </a:pPr>
            <a:r>
              <a:t>• 实现报名→审核→考试→AI审核→归档的全流程数字化闭环</a:t>
            </a:r>
          </a:p>
          <a:p>
            <a:pPr>
              <a:spcAft>
                <a:spcPts val="672"/>
              </a:spcAft>
              <a:defRPr sz="1200">
                <a:solidFill>
                  <a:srgbClr val="262626"/>
                </a:solidFill>
                <a:latin typeface="Microsoft YaHei"/>
              </a:defRPr>
            </a:pPr>
            <a:r>
              <a:t>• 通过 AI 辅助审核提升审核效率与标准一致性</a:t>
            </a:r>
          </a:p>
          <a:p>
            <a:pPr>
              <a:spcAft>
                <a:spcPts val="672"/>
              </a:spcAft>
              <a:defRPr sz="1200">
                <a:solidFill>
                  <a:srgbClr val="262626"/>
                </a:solidFill>
                <a:latin typeface="Microsoft YaHei"/>
              </a:defRPr>
            </a:pPr>
            <a:r>
              <a:t>• 按班级自动归档，一键生成 Excel 报表</a:t>
            </a:r>
          </a:p>
          <a:p>
            <a:pPr>
              <a:spcAft>
                <a:spcPts val="672"/>
              </a:spcAft>
              <a:defRPr sz="1200">
                <a:solidFill>
                  <a:srgbClr val="262626"/>
                </a:solidFill>
                <a:latin typeface="Microsoft YaHei"/>
              </a:defRPr>
            </a:pPr>
            <a:r>
              <a:t>• 提供公开信息门户，学生可自助查阅培训与材料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FF"/>
                </a:solidFill>
                <a:latin typeface="Microsoft YaHei"/>
              </a:defRPr>
            </a:pPr>
            <a: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548640"/>
            <a:ext cx="5943600" cy="137160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🖥️  前端展示层 (React 18 + TypeScript + Ant Design 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0515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9"/>
              </a:spcAft>
              <a:defRPr sz="900">
                <a:solidFill>
                  <a:srgbClr val="DDEEFF"/>
                </a:solidFill>
                <a:latin typeface="Microsoft YaHei"/>
              </a:defRPr>
            </a:pPr>
            <a:r>
              <a:t>Login / Dashboard / Students / Certificates / Registrations</a:t>
            </a:r>
          </a:p>
          <a:p>
            <a:pPr>
              <a:spcAft>
                <a:spcPts val="189"/>
              </a:spcAft>
              <a:defRPr sz="900">
                <a:solidFill>
                  <a:srgbClr val="DDEEFF"/>
                </a:solidFill>
                <a:latin typeface="Microsoft YaHei"/>
              </a:defRPr>
            </a:pPr>
            <a:r>
              <a:t>Exams (AI审核) / Records / Archives / Training / Materials / 公开门户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20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C8C8C"/>
                </a:solidFill>
                <a:latin typeface="Microsoft YaHei"/>
              </a:defRPr>
            </a:pPr>
            <a:r>
              <a:t>⬇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2194560"/>
            <a:ext cx="5943600" cy="1371600"/>
          </a:xfrm>
          <a:prstGeom prst="rect">
            <a:avLst/>
          </a:prstGeom>
          <a:solidFill>
            <a:srgbClr val="08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⚙️  后端服务层 (Node.js + Express + TypeScript)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6974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9"/>
              </a:spcAft>
              <a:defRPr sz="900">
                <a:solidFill>
                  <a:srgbClr val="DDEEFF"/>
                </a:solidFill>
                <a:latin typeface="Microsoft YaHei"/>
              </a:defRPr>
            </a:pPr>
            <a:r>
              <a:t>Auth (JWT+bcrypt)  |  Controllers (10 modules)  |  AI Review Engine</a:t>
            </a:r>
          </a:p>
          <a:p>
            <a:pPr>
              <a:spcAft>
                <a:spcPts val="189"/>
              </a:spcAft>
              <a:defRPr sz="900">
                <a:solidFill>
                  <a:srgbClr val="DDEEFF"/>
                </a:solidFill>
                <a:latin typeface="Microsoft YaHei"/>
              </a:defRPr>
            </a:pPr>
            <a:r>
              <a:t>Multer (文件上传)  |  XLSX (Excel解析)  |  RESTful API (30+ endpoints)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5661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C8C8C"/>
                </a:solidFill>
                <a:latin typeface="Microsoft YaHei"/>
              </a:defRPr>
            </a:pPr>
            <a:r>
              <a:t>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3840480"/>
            <a:ext cx="5943600" cy="1097280"/>
          </a:xfrm>
          <a:prstGeom prst="rect">
            <a:avLst/>
          </a:prstGeom>
          <a:solidFill>
            <a:srgbClr val="001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🗄️  数据存储层 (SQLite - sql.js 纯JS实现)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343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9"/>
              </a:spcAft>
              <a:defRPr sz="900">
                <a:solidFill>
                  <a:srgbClr val="AAAAAA"/>
                </a:solidFill>
                <a:latin typeface="Microsoft YaHei"/>
              </a:defRPr>
            </a:pPr>
            <a:r>
              <a:t>users  |  students  |  certificates  |  registrations  |  exams  |  records  |  archives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731520"/>
            <a:ext cx="1554480" cy="1005840"/>
          </a:xfrm>
          <a:prstGeom prst="rect">
            <a:avLst/>
          </a:prstGeom>
          <a:solidFill>
            <a:srgbClr val="E6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822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77FF"/>
                </a:solidFill>
                <a:latin typeface="Microsoft YaHei"/>
              </a:defRPr>
            </a:pPr>
            <a:r>
              <a:t>📦 批量导入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1430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8C"/>
                </a:solidFill>
                <a:latin typeface="Microsoft YaHei"/>
              </a:defRPr>
            </a:pPr>
            <a:r>
              <a:t>Excel导入</a:t>
            </a:r>
            <a:br/>
            <a:r>
              <a:t>学生/考试/证书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1920240"/>
            <a:ext cx="1554480" cy="1005840"/>
          </a:xfrm>
          <a:prstGeom prst="rect">
            <a:avLst/>
          </a:prstGeom>
          <a:solidFill>
            <a:srgbClr val="E6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2011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77FF"/>
                </a:solidFill>
                <a:latin typeface="Microsoft YaHei"/>
              </a:defRPr>
            </a:pPr>
            <a:r>
              <a:t>🤖 AI审核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3317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8C"/>
                </a:solidFill>
                <a:latin typeface="Microsoft YaHei"/>
              </a:defRPr>
            </a:pPr>
            <a:r>
              <a:t>三维度评估</a:t>
            </a:r>
            <a:br/>
            <a:r>
              <a:t>智能判定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3108960"/>
            <a:ext cx="1554480" cy="1005840"/>
          </a:xfrm>
          <a:prstGeom prst="rect">
            <a:avLst/>
          </a:prstGeom>
          <a:solidFill>
            <a:srgbClr val="E6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3200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77FF"/>
                </a:solidFill>
                <a:latin typeface="Microsoft YaHei"/>
              </a:defRPr>
            </a:pPr>
            <a:r>
              <a:t>🔐 安全认证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8C"/>
                </a:solidFill>
                <a:latin typeface="Microsoft YaHei"/>
              </a:defRPr>
            </a:pPr>
            <a:r>
              <a:t>JWT Token</a:t>
            </a:r>
            <a:br/>
            <a:r>
              <a:t>权限管控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0" y="4297680"/>
            <a:ext cx="1554480" cy="1005840"/>
          </a:xfrm>
          <a:prstGeom prst="rect">
            <a:avLst/>
          </a:prstGeom>
          <a:solidFill>
            <a:srgbClr val="E6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4389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77FF"/>
                </a:solidFill>
                <a:latin typeface="Microsoft YaHei"/>
              </a:defRPr>
            </a:pPr>
            <a:r>
              <a:t>🔗 教务对接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70916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8C"/>
                </a:solidFill>
                <a:latin typeface="Microsoft YaHei"/>
              </a:defRPr>
            </a:pPr>
            <a:r>
              <a:t>模拟接口</a:t>
            </a:r>
            <a:br/>
            <a:r>
              <a:t>可扩展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731520"/>
            <a:ext cx="1554480" cy="1005840"/>
          </a:xfrm>
          <a:prstGeom prst="rect">
            <a:avLst/>
          </a:prstGeom>
          <a:solidFill>
            <a:srgbClr val="E6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822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77FF"/>
                </a:solidFill>
                <a:latin typeface="Microsoft YaHei"/>
              </a:defRPr>
            </a:pPr>
            <a:r>
              <a:t>📊 统计看板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11430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8C"/>
                </a:solidFill>
                <a:latin typeface="Microsoft YaHei"/>
              </a:defRPr>
            </a:pPr>
            <a:r>
              <a:t>仪表盘</a:t>
            </a:r>
            <a:br/>
            <a:r>
              <a:t>多维度分析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1920240"/>
            <a:ext cx="1554480" cy="1005840"/>
          </a:xfrm>
          <a:prstGeom prst="rect">
            <a:avLst/>
          </a:prstGeom>
          <a:solidFill>
            <a:srgbClr val="E6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2011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77FF"/>
                </a:solidFill>
                <a:latin typeface="Microsoft YaHei"/>
              </a:defRPr>
            </a:pPr>
            <a:r>
              <a:t>📁 按班归档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23317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8C"/>
                </a:solidFill>
                <a:latin typeface="Microsoft YaHei"/>
              </a:defRPr>
            </a:pPr>
            <a:r>
              <a:t>自动归档</a:t>
            </a:r>
            <a:br/>
            <a:r>
              <a:t>Excel导出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3108960"/>
            <a:ext cx="1554480" cy="1005840"/>
          </a:xfrm>
          <a:prstGeom prst="rect">
            <a:avLst/>
          </a:prstGeom>
          <a:solidFill>
            <a:srgbClr val="E6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3200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77FF"/>
                </a:solidFill>
                <a:latin typeface="Microsoft YaHei"/>
              </a:defRPr>
            </a:pPr>
            <a:r>
              <a:t>🌐 公开门户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8C"/>
                </a:solidFill>
                <a:latin typeface="Microsoft YaHei"/>
              </a:defRPr>
            </a:pPr>
            <a:r>
              <a:t>信息公示</a:t>
            </a:r>
            <a:br/>
            <a:r>
              <a:t>无需登录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4297680"/>
            <a:ext cx="1554480" cy="1005840"/>
          </a:xfrm>
          <a:prstGeom prst="rect">
            <a:avLst/>
          </a:prstGeom>
          <a:solidFill>
            <a:srgbClr val="E6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4389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77FF"/>
                </a:solidFill>
                <a:latin typeface="Microsoft YaHei"/>
              </a:defRPr>
            </a:pPr>
            <a:r>
              <a:t>⚡ 零配置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70916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8C"/>
                </a:solidFill>
                <a:latin typeface="Microsoft YaHei"/>
              </a:defRPr>
            </a:pPr>
            <a:r>
              <a:t>sql.js</a:t>
            </a:r>
            <a:br/>
            <a:r>
              <a:t>无需安装DB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0" y="5212080"/>
            <a:ext cx="5943600" cy="457200"/>
          </a:xfrm>
          <a:prstGeom prst="rect">
            <a:avLst/>
          </a:prstGeom>
          <a:solidFill>
            <a:srgbClr val="E6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5257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677FF"/>
                </a:solidFill>
                <a:latin typeface="Microsoft YaHei"/>
              </a:defRPr>
            </a:pPr>
            <a:r>
              <a:t>🔗 教务系统对接 (加分项) — GET /api/edusys/certificates/:studentNo  |  POST /api/edusys/sync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5943600"/>
            <a:ext cx="5943600" cy="457200"/>
          </a:xfrm>
          <a:prstGeom prst="rect">
            <a:avLst/>
          </a:prstGeom>
          <a:solidFill>
            <a:srgbClr val="001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0" y="5989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BBCC"/>
                </a:solidFill>
                <a:latin typeface="Microsoft YaHei"/>
              </a:defRPr>
            </a:pPr>
            <a:r>
              <a:t>cd server &amp;&amp; npm run dev (端口3001)   |   cd client &amp;&amp; npm run dev (端口5173)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证书类型体系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FF"/>
                </a:solidFill>
                <a:latin typeface="Microsoft YaHei"/>
              </a:defRPr>
            </a:pPr>
            <a:r>
              <a:t>Certificate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914400"/>
            <a:ext cx="2194560" cy="50292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846320" y="914400"/>
            <a:ext cx="2194560" cy="82296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0972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677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2344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77FF"/>
                </a:solidFill>
                <a:latin typeface="Microsoft YaHei"/>
              </a:defRPr>
            </a:pPr>
            <a:r>
              <a:t>人社证书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6459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8C"/>
                </a:solidFill>
                <a:latin typeface="Microsoft YaHei"/>
              </a:defRPr>
            </a:pPr>
            <a:r>
              <a:t>RENSHE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194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626"/>
                </a:solidFill>
                <a:latin typeface="Microsoft YaHei"/>
              </a:defRPr>
            </a:pPr>
            <a:r>
              <a:t>人力资源和社会保障部门</a:t>
            </a:r>
            <a:br/>
            <a:r>
              <a:t>颁发的职业资格证书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32004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C8C8C"/>
                </a:solidFill>
                <a:latin typeface="Microsoft YaHei"/>
              </a:defRPr>
            </a:pPr>
            <a:r>
              <a:t>示例证书：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566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▸ 计算机等级考试二级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3886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▸ 英语四级(CET-4)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2062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▸ 电工证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526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▸ 焊工证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914400"/>
            <a:ext cx="2194560" cy="50292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914400"/>
            <a:ext cx="2194560" cy="82296"/>
          </a:xfrm>
          <a:prstGeom prst="rect">
            <a:avLst/>
          </a:prstGeom>
          <a:solidFill>
            <a:srgbClr val="52C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0" y="10972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52C41A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12344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2C41A"/>
                </a:solidFill>
                <a:latin typeface="Microsoft YaHei"/>
              </a:defRPr>
            </a:pPr>
            <a:r>
              <a:t>专业证书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6459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8C"/>
                </a:solidFill>
                <a:latin typeface="Microsoft YaHei"/>
              </a:defRPr>
            </a:pPr>
            <a:r>
              <a:t>ZHUANYE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194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626"/>
                </a:solidFill>
                <a:latin typeface="Microsoft YaHei"/>
              </a:defRPr>
            </a:pPr>
            <a:r>
              <a:t>专业相关的行业</a:t>
            </a:r>
            <a:br/>
            <a:r>
              <a:t>认证证书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C8C8C"/>
                </a:solidFill>
                <a:latin typeface="Microsoft YaHei"/>
              </a:defRPr>
            </a:pPr>
            <a:r>
              <a:t>示例证书：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3566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▸ 会计从业资格证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886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▸ 软件设计师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062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▸ 建造师资格证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914400"/>
            <a:ext cx="2194560" cy="50292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914400"/>
            <a:ext cx="2194560" cy="82296"/>
          </a:xfrm>
          <a:prstGeom prst="rect">
            <a:avLst/>
          </a:prstGeom>
          <a:solidFill>
            <a:srgbClr val="FA8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10972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A8C1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12344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A8C16"/>
                </a:solidFill>
                <a:latin typeface="Microsoft YaHei"/>
              </a:defRPr>
            </a:pPr>
            <a:r>
              <a:t>校内引进证书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16459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8C"/>
                </a:solidFill>
                <a:latin typeface="Microsoft YaHei"/>
              </a:defRPr>
            </a:pPr>
            <a:r>
              <a:t>XIAONEI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194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626"/>
                </a:solidFill>
                <a:latin typeface="Microsoft YaHei"/>
              </a:defRPr>
            </a:pPr>
            <a:r>
              <a:t>学校引进的各类</a:t>
            </a:r>
            <a:br/>
            <a:r>
              <a:t>技能认证证书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2004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C8C8C"/>
                </a:solidFill>
                <a:latin typeface="Microsoft YaHei"/>
              </a:defRPr>
            </a:pPr>
            <a:r>
              <a:t>示例证书：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3566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▸ 普通话等级证书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3886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▸ 电子商务师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2062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▸ 市场营销师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6217920"/>
            <a:ext cx="6858000" cy="365760"/>
          </a:xfrm>
          <a:prstGeom prst="rect">
            <a:avLst/>
          </a:prstGeom>
          <a:solidFill>
            <a:srgbClr val="001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0" y="6263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BBCC"/>
                </a:solidFill>
                <a:latin typeface="Microsoft YaHei"/>
              </a:defRPr>
            </a:pPr>
            <a:r>
              <a:t>系统支持自定义证书类型和证书信息，管理员可灵活配置报名规则和报名条件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核心功能模块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DFF"/>
                </a:solidFill>
                <a:latin typeface="Microsoft YaHei"/>
              </a:defRPr>
            </a:pPr>
            <a:r>
              <a:t>Core Functional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651760" cy="237744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262626"/>
                </a:solidFill>
                <a:latin typeface="Microsoft YaHei"/>
              </a:defRPr>
            </a:pPr>
            <a:r>
              <a:t>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544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77FF"/>
                </a:solidFill>
                <a:latin typeface="Microsoft YaHei"/>
              </a:defRPr>
            </a:pPr>
            <a:r>
              <a:t>仪表盘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626"/>
                </a:solidFill>
                <a:latin typeface="Microsoft YaHei"/>
              </a:defRPr>
            </a:pPr>
            <a:r>
              <a:t>统计概览</a:t>
            </a:r>
            <a:br/>
            <a:r>
              <a:t>各类型证书通过率</a:t>
            </a:r>
            <a:br/>
            <a:r>
              <a:t>报名数/获证数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237744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508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262626"/>
                </a:solidFill>
                <a:latin typeface="Microsoft YaHei"/>
              </a:defRPr>
            </a:pPr>
            <a:r>
              <a:t>👨‍🎓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5544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77FF"/>
                </a:solidFill>
                <a:latin typeface="Microsoft YaHei"/>
              </a:defRPr>
            </a:pPr>
            <a:r>
              <a:t>学生管理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19456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626"/>
                </a:solidFill>
                <a:latin typeface="Microsoft YaHei"/>
              </a:defRPr>
            </a:pPr>
            <a:r>
              <a:t>CRUD管理</a:t>
            </a:r>
            <a:br/>
            <a:r>
              <a:t>Excel批量导入</a:t>
            </a:r>
            <a:br/>
            <a:r>
              <a:t>按班级筛选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2651760" cy="237744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08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262626"/>
                </a:solidFill>
                <a:latin typeface="Microsoft YaHei"/>
              </a:defRPr>
            </a:pPr>
            <a:r>
              <a:t>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5544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77FF"/>
                </a:solidFill>
                <a:latin typeface="Microsoft YaHei"/>
              </a:defRPr>
            </a:pPr>
            <a:r>
              <a:t>证书管理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9456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626"/>
                </a:solidFill>
                <a:latin typeface="Microsoft YaHei"/>
              </a:defRPr>
            </a:pPr>
            <a:r>
              <a:t>三种证书类型</a:t>
            </a:r>
            <a:br/>
            <a:r>
              <a:t>证书信息维护</a:t>
            </a:r>
            <a:br/>
            <a:r>
              <a:t>报名规则设置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98280" y="1371600"/>
            <a:ext cx="2651760" cy="237744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1508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262626"/>
                </a:solidFill>
                <a:latin typeface="Microsoft YaHei"/>
              </a:defRPr>
            </a:pPr>
            <a:r>
              <a:t>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15544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77FF"/>
                </a:solidFill>
                <a:latin typeface="Microsoft YaHei"/>
              </a:defRPr>
            </a:pPr>
            <a:r>
              <a:t>报名管理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19456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626"/>
                </a:solidFill>
                <a:latin typeface="Microsoft YaHei"/>
              </a:defRPr>
            </a:pPr>
            <a:r>
              <a:t>学生报名</a:t>
            </a:r>
            <a:br/>
            <a:r>
              <a:t>审核批准/拒绝</a:t>
            </a:r>
            <a:br/>
            <a:r>
              <a:t>批量导入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77640"/>
            <a:ext cx="2651760" cy="237744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14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262626"/>
                </a:solidFill>
                <a:latin typeface="Microsoft YaHei"/>
              </a:defRPr>
            </a:pPr>
            <a:r>
              <a:t>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1605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77FF"/>
                </a:solidFill>
                <a:latin typeface="Microsoft YaHei"/>
              </a:defRPr>
            </a:pPr>
            <a:r>
              <a:t>考试管理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006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626"/>
                </a:solidFill>
                <a:latin typeface="Microsoft YaHei"/>
              </a:defRPr>
            </a:pPr>
            <a:r>
              <a:t>考试信息提交</a:t>
            </a:r>
            <a:br/>
            <a:r>
              <a:t>AI智能审核</a:t>
            </a:r>
            <a:br/>
            <a:r>
              <a:t>人工复核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7560" y="3977640"/>
            <a:ext cx="2651760" cy="237744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40" y="4114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262626"/>
                </a:solidFill>
                <a:latin typeface="Microsoft YaHei"/>
              </a:defRPr>
            </a:pPr>
            <a:r>
              <a:t>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41605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77FF"/>
                </a:solidFill>
                <a:latin typeface="Microsoft YaHei"/>
              </a:defRPr>
            </a:pPr>
            <a:r>
              <a:t>证书记录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8006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626"/>
                </a:solidFill>
                <a:latin typeface="Microsoft YaHei"/>
              </a:defRPr>
            </a:pPr>
            <a:r>
              <a:t>获取情况管理</a:t>
            </a:r>
            <a:br/>
            <a:r>
              <a:t>批量导入</a:t>
            </a:r>
            <a:br/>
            <a:r>
              <a:t>数据统计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977640"/>
            <a:ext cx="2651760" cy="237744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262626"/>
                </a:solidFill>
                <a:latin typeface="Microsoft YaHei"/>
              </a:defRPr>
            </a:pPr>
            <a:r>
              <a:t>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1605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77FF"/>
                </a:solidFill>
                <a:latin typeface="Microsoft YaHei"/>
              </a:defRPr>
            </a:pPr>
            <a:r>
              <a:t>归档管理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8006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626"/>
                </a:solidFill>
                <a:latin typeface="Microsoft YaHei"/>
              </a:defRPr>
            </a:pPr>
            <a:r>
              <a:t>按班级归档</a:t>
            </a:r>
            <a:br/>
            <a:r>
              <a:t>Excel自动生成</a:t>
            </a:r>
            <a:br/>
            <a:r>
              <a:t>归档详情查看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98280" y="3977640"/>
            <a:ext cx="2651760" cy="237744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81160" y="4114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262626"/>
                </a:solidFill>
                <a:latin typeface="Microsoft YaHei"/>
              </a:defRPr>
            </a:pPr>
            <a:r>
              <a:t>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1605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77FF"/>
                </a:solidFill>
                <a:latin typeface="Microsoft YaHei"/>
              </a:defRPr>
            </a:pPr>
            <a:r>
              <a:t>公开门户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48006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62626"/>
                </a:solidFill>
                <a:latin typeface="Microsoft YaHei"/>
              </a:defRPr>
            </a:pPr>
            <a:r>
              <a:t>证书信息展示</a:t>
            </a:r>
            <a:br/>
            <a:r>
              <a:t>培训/材料公示</a:t>
            </a:r>
            <a:br/>
            <a:r>
              <a:t>无需登录查看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C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🤖 AI 智能审核引擎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AACC"/>
                </a:solidFill>
                <a:latin typeface="Microsoft YaHei"/>
              </a:defRPr>
            </a:pPr>
            <a:r>
              <a:t>三维度智能评估 — 材料完整性 × 成绩合格性 × 前置条件审核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474720" cy="2286000"/>
          </a:xfrm>
          <a:prstGeom prst="rect">
            <a:avLst/>
          </a:prstGeom>
          <a:solidFill>
            <a:srgbClr val="0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74720" cy="54864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262626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65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677FF"/>
                </a:solidFill>
                <a:latin typeface="Microsoft YaHei"/>
              </a:defRPr>
            </a:pPr>
            <a:r>
              <a:t>材料完整性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BBCC"/>
                </a:solidFill>
                <a:latin typeface="Microsoft YaHei"/>
              </a:defRPr>
            </a:pPr>
            <a:r>
              <a:t>检查是否上传了</a:t>
            </a:r>
            <a:br/>
            <a:r>
              <a:t>考试结果附件材料</a:t>
            </a:r>
            <a:br/>
            <a:r>
              <a:t>（成绩单/证书扫描件）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645920"/>
            <a:ext cx="3474720" cy="2286000"/>
          </a:xfrm>
          <a:prstGeom prst="rect">
            <a:avLst/>
          </a:prstGeom>
          <a:solidFill>
            <a:srgbClr val="0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645920"/>
            <a:ext cx="3474720" cy="54864"/>
          </a:xfrm>
          <a:prstGeom prst="rect">
            <a:avLst/>
          </a:prstGeom>
          <a:solidFill>
            <a:srgbClr val="52C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262626"/>
                </a:solidFill>
                <a:latin typeface="Microsoft YaHei"/>
              </a:defRPr>
            </a:pPr>
            <a: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965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2C41A"/>
                </a:solidFill>
                <a:latin typeface="Microsoft YaHei"/>
              </a:defRPr>
            </a:pPr>
            <a:r>
              <a:t>成绩合格性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BBCC"/>
                </a:solidFill>
                <a:latin typeface="Microsoft YaHei"/>
              </a:defRPr>
            </a:pPr>
            <a:r>
              <a:t>验证考试成绩是否</a:t>
            </a:r>
            <a:br/>
            <a:r>
              <a:t>达到及格线标准</a:t>
            </a:r>
            <a:br/>
            <a:r>
              <a:t>（默认 60 分）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1645920"/>
            <a:ext cx="3474720" cy="2286000"/>
          </a:xfrm>
          <a:prstGeom prst="rect">
            <a:avLst/>
          </a:prstGeom>
          <a:solidFill>
            <a:srgbClr val="0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1645920"/>
            <a:ext cx="3474720" cy="54864"/>
          </a:xfrm>
          <a:prstGeom prst="rect">
            <a:avLst/>
          </a:prstGeom>
          <a:solidFill>
            <a:srgbClr val="FA8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262626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965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A8C16"/>
                </a:solidFill>
                <a:latin typeface="Microsoft YaHei"/>
              </a:defRPr>
            </a:pPr>
            <a:r>
              <a:t>前置条件审核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BBCC"/>
                </a:solidFill>
                <a:latin typeface="Microsoft YaHei"/>
              </a:defRPr>
            </a:pPr>
            <a:r>
              <a:t>确认报名是否已通过</a:t>
            </a:r>
            <a:br/>
            <a:r>
              <a:t>管理员审核</a:t>
            </a:r>
            <a:br/>
            <a:r>
              <a:t>确保流程合规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审核结果输出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754880"/>
            <a:ext cx="3474720" cy="1371600"/>
          </a:xfrm>
          <a:prstGeom prst="rect">
            <a:avLst/>
          </a:prstGeom>
          <a:solidFill>
            <a:srgbClr val="0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754880"/>
            <a:ext cx="3474720" cy="54864"/>
          </a:xfrm>
          <a:prstGeom prst="rect">
            <a:avLst/>
          </a:prstGeom>
          <a:solidFill>
            <a:srgbClr val="52C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9377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2C41A"/>
                </a:solidFill>
                <a:latin typeface="Microsoft YaHei"/>
              </a:defRPr>
            </a:pPr>
            <a:r>
              <a:t>✅ 通过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3949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8C"/>
                </a:solidFill>
                <a:latin typeface="Microsoft YaHei"/>
              </a:defRPr>
            </a:pPr>
            <a:r>
              <a:t>材料完整</a:t>
            </a:r>
            <a:br/>
            <a:r>
              <a:t>成绩合格</a:t>
            </a:r>
            <a:br/>
            <a:r>
              <a:t>前置满足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754880"/>
            <a:ext cx="3474720" cy="1371600"/>
          </a:xfrm>
          <a:prstGeom prst="rect">
            <a:avLst/>
          </a:prstGeom>
          <a:solidFill>
            <a:srgbClr val="0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4754880"/>
            <a:ext cx="3474720" cy="54864"/>
          </a:xfrm>
          <a:prstGeom prst="rect">
            <a:avLst/>
          </a:prstGeom>
          <a:solidFill>
            <a:srgbClr val="FA8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49377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8C16"/>
                </a:solidFill>
                <a:latin typeface="Microsoft YaHei"/>
              </a:defRPr>
            </a:pPr>
            <a:r>
              <a:t>⚠️ 需补充材料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53949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8C"/>
                </a:solidFill>
                <a:latin typeface="Microsoft YaHei"/>
              </a:defRPr>
            </a:pPr>
            <a:r>
              <a:t>材料不完整</a:t>
            </a:r>
            <a:br/>
            <a:r>
              <a:t>需补充后重审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4754880"/>
            <a:ext cx="3474720" cy="1371600"/>
          </a:xfrm>
          <a:prstGeom prst="rect">
            <a:avLst/>
          </a:prstGeom>
          <a:solidFill>
            <a:srgbClr val="0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0" y="4754880"/>
            <a:ext cx="3474720" cy="54864"/>
          </a:xfrm>
          <a:prstGeom prst="rect">
            <a:avLst/>
          </a:prstGeom>
          <a:solidFill>
            <a:srgbClr val="FF4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49377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D4F"/>
                </a:solidFill>
                <a:latin typeface="Microsoft YaHei"/>
              </a:defRPr>
            </a:pPr>
            <a:r>
              <a:t>❌ 不通过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3949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8C"/>
                </a:solidFill>
                <a:latin typeface="Microsoft YaHei"/>
              </a:defRPr>
            </a:pPr>
            <a:r>
              <a:t>成绩不合格</a:t>
            </a:r>
            <a:br/>
            <a:r>
              <a:t>或前置不满足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88AA"/>
                </a:solidFill>
                <a:latin typeface="Microsoft YaHei"/>
              </a:defRPr>
            </a:pPr>
            <a:r>
              <a:t>💡 内置模拟AI引擎 (server/src/services/aiReviewService.ts)，可替换为真实 AI API（如 GPT/Claude）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业务流程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FF"/>
                </a:solidFill>
                <a:latin typeface="Microsoft YaHei"/>
              </a:defRPr>
            </a:pPr>
            <a:r>
              <a:t>Business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1371600"/>
            <a:ext cx="822960" cy="146304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463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创建</a:t>
            </a:r>
            <a:br/>
            <a:r>
              <a:t>学生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2860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DDDDFF"/>
                </a:solidFill>
                <a:latin typeface="Microsoft YaHei"/>
              </a:defRPr>
            </a:pPr>
            <a:r>
              <a:t>录入学生信息</a:t>
            </a:r>
            <a:br/>
            <a:r>
              <a:t>或Excel批量导入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32120" y="1371600"/>
            <a:ext cx="822960" cy="1463040"/>
          </a:xfrm>
          <a:prstGeom prst="rect">
            <a:avLst/>
          </a:prstGeom>
          <a:solidFill>
            <a:srgbClr val="08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463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737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创建</a:t>
            </a:r>
            <a:br/>
            <a:r>
              <a:t>证书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2860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DDDDFF"/>
                </a:solidFill>
                <a:latin typeface="Microsoft YaHei"/>
              </a:defRPr>
            </a:pPr>
            <a:r>
              <a:t>定义证书信息</a:t>
            </a:r>
            <a:br/>
            <a:r>
              <a:t>设置报名规则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71600"/>
            <a:ext cx="822960" cy="1463040"/>
          </a:xfrm>
          <a:prstGeom prst="rect">
            <a:avLst/>
          </a:prstGeom>
          <a:solidFill>
            <a:srgbClr val="52C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463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737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学生</a:t>
            </a:r>
            <a:br/>
            <a:r>
              <a:t>报名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860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DDDDFF"/>
                </a:solidFill>
                <a:latin typeface="Microsoft YaHei"/>
              </a:defRPr>
            </a:pPr>
            <a:r>
              <a:t>选择学生和证书</a:t>
            </a:r>
            <a:br/>
            <a:r>
              <a:t>提交报名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1371600"/>
            <a:ext cx="822960" cy="1463040"/>
          </a:xfrm>
          <a:prstGeom prst="rect">
            <a:avLst/>
          </a:prstGeom>
          <a:solidFill>
            <a:srgbClr val="FA8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0" y="1463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1737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审核</a:t>
            </a:r>
            <a:br/>
            <a:r>
              <a:t>报名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22860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DDDDFF"/>
                </a:solidFill>
                <a:latin typeface="Microsoft YaHei"/>
              </a:defRPr>
            </a:pPr>
            <a:r>
              <a:t>管理员审核</a:t>
            </a:r>
            <a:br/>
            <a:r>
              <a:t>批准或拒绝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1371600"/>
            <a:ext cx="822960" cy="146304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1463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1737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提交</a:t>
            </a:r>
            <a:br/>
            <a:r>
              <a:t>考试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2860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DDDDFF"/>
                </a:solidFill>
                <a:latin typeface="Microsoft YaHei"/>
              </a:defRPr>
            </a:pPr>
            <a:r>
              <a:t>录入考试成绩</a:t>
            </a:r>
            <a:br/>
            <a:r>
              <a:t>上传附件材料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72600" y="1371600"/>
            <a:ext cx="822960" cy="1463040"/>
          </a:xfrm>
          <a:prstGeom prst="rect">
            <a:avLst/>
          </a:prstGeom>
          <a:solidFill>
            <a:srgbClr val="EB2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463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737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AI</a:t>
            </a:r>
            <a:br/>
            <a:r>
              <a:t>审核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2860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DDDDFF"/>
                </a:solidFill>
                <a:latin typeface="Microsoft YaHei"/>
              </a:defRPr>
            </a:pPr>
            <a:r>
              <a:t>自动评估</a:t>
            </a:r>
            <a:br/>
            <a:r>
              <a:t>三维度审核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32720" y="1371600"/>
            <a:ext cx="822960" cy="1463040"/>
          </a:xfrm>
          <a:prstGeom prst="rect">
            <a:avLst/>
          </a:prstGeom>
          <a:solidFill>
            <a:srgbClr val="FF4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1463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78440" y="1737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人工</a:t>
            </a:r>
            <a:br/>
            <a:r>
              <a:t>复核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8440" y="22860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DDDDFF"/>
                </a:solidFill>
                <a:latin typeface="Microsoft YaHei"/>
              </a:defRPr>
            </a:pPr>
            <a:r>
              <a:t>最终审批</a:t>
            </a:r>
            <a:br/>
            <a:r>
              <a:t>自动生成证书记录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292840" y="1371600"/>
            <a:ext cx="822960" cy="1463040"/>
          </a:xfrm>
          <a:prstGeom prst="rect">
            <a:avLst/>
          </a:prstGeom>
          <a:solidFill>
            <a:srgbClr val="001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338560" y="1463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1737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按班</a:t>
            </a:r>
            <a:br/>
            <a:r>
              <a:t>归档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228600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DDDDFF"/>
                </a:solidFill>
                <a:latin typeface="Microsoft YaHei"/>
              </a:defRPr>
            </a:pPr>
            <a:r>
              <a:t>按班级归档</a:t>
            </a:r>
            <a:br/>
            <a:r>
              <a:t>导出Excel文件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1920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C8C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1920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C8C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1920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C8C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1920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C8C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1920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C8C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1920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C8C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1920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C8C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3200400"/>
            <a:ext cx="2441448" cy="33832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0916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677FF"/>
                </a:solidFill>
                <a:latin typeface="Microsoft YaHei"/>
              </a:defRPr>
            </a:pPr>
            <a:r>
              <a:t>管理端操作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09160" y="374904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1️⃣ 打开浏览器访问 http://localhost:5173</a:t>
            </a:r>
          </a:p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2️⃣ 使用默认账号 admin / admin123 登录</a:t>
            </a:r>
          </a:p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3️⃣ 左侧导航栏进入各管理模块</a:t>
            </a:r>
          </a:p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4️⃣ 完成学生/证书的创建和数据录入</a:t>
            </a:r>
          </a:p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5️⃣ 依次执行报名→审核→考试→归档流程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23760" y="3200400"/>
            <a:ext cx="2441448" cy="33832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6092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677FF"/>
                </a:solidFill>
                <a:latin typeface="Microsoft YaHei"/>
              </a:defRPr>
            </a:pPr>
            <a:r>
              <a:t>批量操作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374904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📥 学生批量导入：上传Excel文件（学号/姓名/班级…）</a:t>
            </a:r>
          </a:p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📥 考试批量导入：上传Excel文件（学号/证书/成绩…）</a:t>
            </a:r>
          </a:p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📥 证书记录批量导入：上传Excel文件</a:t>
            </a:r>
          </a:p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📤 归档导出：按班级自动生成Excel归档文件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75520" y="3200400"/>
            <a:ext cx="2441448" cy="33832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268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677FF"/>
                </a:solidFill>
                <a:latin typeface="Microsoft YaHei"/>
              </a:defRPr>
            </a:pPr>
            <a:r>
              <a:t>公开门户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2680" y="374904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🌐 访问 http://localhost:5173/public（无需登录）</a:t>
            </a:r>
          </a:p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📜 查看所有证书信息和报名要求</a:t>
            </a:r>
          </a:p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📚 查阅公开的培训安排和辅导材料</a:t>
            </a:r>
          </a:p>
          <a:p>
            <a:pPr>
              <a:spcAft>
                <a:spcPts val="560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🔗 可嵌入学校官网或公众号作为信息公示页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系统页面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FF"/>
                </a:solidFill>
                <a:latin typeface="Microsoft YaHei"/>
              </a:defRPr>
            </a:pPr>
            <a:r>
              <a:t>System Pages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1097280"/>
            <a:ext cx="1691640" cy="24688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83480" y="1234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🔐 Login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0" y="1600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2626"/>
                </a:solidFill>
                <a:latin typeface="Microsoft YaHei"/>
              </a:defRPr>
            </a:pPr>
            <a:r>
              <a:t>登录页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01168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JWT认证</a:t>
            </a:r>
            <a:br/>
            <a:r>
              <a:t>默认admin/admin123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39" y="1097280"/>
            <a:ext cx="1691640" cy="24688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7999" y="1234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📊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1600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2626"/>
                </a:solidFill>
                <a:latin typeface="Microsoft YaHei"/>
              </a:defRPr>
            </a:pPr>
            <a:r>
              <a:t>仪表盘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7999" y="201168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数据统计</a:t>
            </a:r>
            <a:br/>
            <a:r>
              <a:t>多维度看板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58" y="1097280"/>
            <a:ext cx="1691640" cy="24688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2518" y="1234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👨‍🎓 Students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8" y="1600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2626"/>
                </a:solidFill>
                <a:latin typeface="Microsoft YaHei"/>
              </a:defRPr>
            </a:pPr>
            <a:r>
              <a:t>学生管理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8" y="201168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CRUD</a:t>
            </a:r>
            <a:br/>
            <a:r>
              <a:t>Excel批量导入</a:t>
            </a:r>
            <a:br/>
            <a:r>
              <a:t>班级筛选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469877" y="1097280"/>
            <a:ext cx="1691640" cy="24688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37" y="1234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📜 Certificates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37" y="1600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2626"/>
                </a:solidFill>
                <a:latin typeface="Microsoft YaHei"/>
              </a:defRPr>
            </a:pPr>
            <a:r>
              <a:t>证书管理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37" y="201168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三类证书</a:t>
            </a:r>
            <a:br/>
            <a:r>
              <a:t>报名规则配置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3840480"/>
            <a:ext cx="1691640" cy="24688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83480" y="3977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📝 Registrations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4343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2626"/>
                </a:solidFill>
                <a:latin typeface="Microsoft YaHei"/>
              </a:defRPr>
            </a:pPr>
            <a:r>
              <a:t>报名管理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475488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报名+审核</a:t>
            </a:r>
            <a:br/>
            <a:r>
              <a:t>批准/拒绝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39" y="3840480"/>
            <a:ext cx="1691640" cy="24688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7999" y="3977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🤖 Exams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7999" y="4343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2626"/>
                </a:solidFill>
                <a:latin typeface="Microsoft YaHei"/>
              </a:defRPr>
            </a:pPr>
            <a:r>
              <a:t>考试管理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7999" y="475488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AI审核</a:t>
            </a:r>
            <a:br/>
            <a:r>
              <a:t>人工复核</a:t>
            </a:r>
            <a:br/>
            <a:r>
              <a:t>批量导入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58" y="3840480"/>
            <a:ext cx="1691640" cy="24688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18" y="3977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📦 Archives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18" y="4343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2626"/>
                </a:solidFill>
                <a:latin typeface="Microsoft YaHei"/>
              </a:defRPr>
            </a:pPr>
            <a:r>
              <a:t>归档管理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18" y="475488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按班归档</a:t>
            </a:r>
            <a:br/>
            <a:r>
              <a:t>Excel导出</a:t>
            </a:r>
            <a:br/>
            <a:r>
              <a:t>通过率统计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69877" y="3840480"/>
            <a:ext cx="1691640" cy="24688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07037" y="3977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🌐 Public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37" y="4343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2626"/>
                </a:solidFill>
                <a:latin typeface="Microsoft YaHei"/>
              </a:defRPr>
            </a:pPr>
            <a:r>
              <a:t>公开门户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37" y="475488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62626"/>
                </a:solidFill>
                <a:latin typeface="Microsoft YaHei"/>
              </a:defRPr>
            </a:pPr>
            <a:r>
              <a:t>无需登录</a:t>
            </a:r>
            <a:br/>
            <a:r>
              <a:t>信息公示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46320" y="6400800"/>
            <a:ext cx="6858000" cy="320040"/>
          </a:xfrm>
          <a:prstGeom prst="rect">
            <a:avLst/>
          </a:prstGeom>
          <a:solidFill>
            <a:srgbClr val="001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0" y="6428232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BBCC"/>
                </a:solidFill>
                <a:latin typeface="Microsoft YaHei"/>
              </a:defRPr>
            </a:pPr>
            <a:r>
              <a:t>前端基于 Ant Design 5 组件库，自适应布局，支持多端访问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教务系统对接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FF"/>
                </a:solidFill>
                <a:latin typeface="Microsoft YaHei"/>
              </a:defRPr>
            </a:pPr>
            <a:r>
              <a:t>Edu System Integration (加分项)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731520"/>
            <a:ext cx="6858000" cy="22860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0" y="9144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77FF"/>
                </a:solidFill>
                <a:latin typeface="Microsoft YaHei"/>
              </a:defRPr>
            </a:pPr>
            <a:r>
              <a:t>📡 模拟教务系统 API 接口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63040"/>
            <a:ext cx="27432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5544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77FF"/>
                </a:solidFill>
                <a:latin typeface="Microsoft YaHei"/>
              </a:defRPr>
            </a:pPr>
            <a:r>
              <a:t>GET 查询接口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8"/>
              </a:spcAft>
              <a:defRPr sz="900">
                <a:solidFill>
                  <a:srgbClr val="262626"/>
                </a:solidFill>
                <a:latin typeface="Microsoft YaHei"/>
              </a:defRPr>
            </a:pPr>
            <a:r>
              <a:t>/api/edusys/certificates/:studentNo</a:t>
            </a:r>
          </a:p>
          <a:p>
            <a:pPr>
              <a:spcAft>
                <a:spcPts val="378"/>
              </a:spcAft>
              <a:defRPr sz="900">
                <a:solidFill>
                  <a:srgbClr val="262626"/>
                </a:solidFill>
                <a:latin typeface="Microsoft YaHei"/>
              </a:defRPr>
            </a:pPr>
            <a:r>
              <a:t>输入学号 → 返回学生证书获取情况</a:t>
            </a:r>
          </a:p>
          <a:p>
            <a:pPr>
              <a:spcAft>
                <a:spcPts val="378"/>
              </a:spcAft>
              <a:defRPr sz="900">
                <a:solidFill>
                  <a:srgbClr val="262626"/>
                </a:solidFill>
                <a:latin typeface="Microsoft YaHei"/>
              </a:defRPr>
            </a:pPr>
            <a:r>
              <a:t>包含证书类型、获取日期、编号、成绩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463040"/>
            <a:ext cx="32918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54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2C41A"/>
                </a:solidFill>
                <a:latin typeface="Microsoft YaHei"/>
              </a:defRPr>
            </a:pPr>
            <a:r>
              <a:t>POST 同步接口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87451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8"/>
              </a:spcAft>
              <a:defRPr sz="900">
                <a:solidFill>
                  <a:srgbClr val="262626"/>
                </a:solidFill>
                <a:latin typeface="Microsoft YaHei"/>
              </a:defRPr>
            </a:pPr>
            <a:r>
              <a:t>/api/edusys/sync</a:t>
            </a:r>
          </a:p>
          <a:p>
            <a:pPr>
              <a:spcAft>
                <a:spcPts val="378"/>
              </a:spcAft>
              <a:defRPr sz="900">
                <a:solidFill>
                  <a:srgbClr val="262626"/>
                </a:solidFill>
                <a:latin typeface="Microsoft YaHei"/>
              </a:defRPr>
            </a:pPr>
            <a:r>
              <a:t>从教务系统批量同步证书数据</a:t>
            </a:r>
          </a:p>
          <a:p>
            <a:pPr>
              <a:spcAft>
                <a:spcPts val="378"/>
              </a:spcAft>
              <a:defRPr sz="900">
                <a:solidFill>
                  <a:srgbClr val="262626"/>
                </a:solidFill>
                <a:latin typeface="Microsoft YaHei"/>
              </a:defRPr>
            </a:pPr>
            <a:r>
              <a:t>自动匹配学生和证书，去重插入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291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2626"/>
                </a:solidFill>
                <a:latin typeface="Microsoft YaHei"/>
              </a:defRPr>
            </a:pPr>
            <a:r>
              <a:t>数据同步流程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3840480"/>
            <a:ext cx="1143000" cy="731520"/>
          </a:xfrm>
          <a:prstGeom prst="rect">
            <a:avLst/>
          </a:prstGeom>
          <a:solidFill>
            <a:srgbClr val="001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402336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教务系统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40233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C8C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840480"/>
            <a:ext cx="1143000" cy="73152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2336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API调用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40233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C8C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840480"/>
            <a:ext cx="1143000" cy="731520"/>
          </a:xfrm>
          <a:prstGeom prst="rect">
            <a:avLst/>
          </a:prstGeom>
          <a:solidFill>
            <a:srgbClr val="52C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402336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学生匹配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40233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C8C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3840480"/>
            <a:ext cx="1143000" cy="731520"/>
          </a:xfrm>
          <a:prstGeom prst="rect">
            <a:avLst/>
          </a:prstGeom>
          <a:solidFill>
            <a:srgbClr val="FA8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402336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证书匹配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40233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C8C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515600" y="3840480"/>
            <a:ext cx="1143000" cy="73152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61320" y="402336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数据入库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029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2626"/>
                </a:solidFill>
                <a:latin typeface="Microsoft YaHei"/>
              </a:defRPr>
            </a:pPr>
            <a:r>
              <a:t>📋 模拟同步数据示例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0" y="5486400"/>
            <a:ext cx="6400800" cy="10972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0" y="5577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学生 2024001 → 计算机等级考试二级 | 2025-03-15 | CERT-2025-001 | 85分</a:t>
            </a:r>
          </a:p>
          <a:p>
            <a:pPr>
              <a:spcAft>
                <a:spcPts val="489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学生 2024002 → 英语四级(CET-4)     | 2025-06-20 | CET4-2025-002 | 520分</a:t>
            </a:r>
          </a:p>
          <a:p>
            <a:pPr>
              <a:spcAft>
                <a:spcPts val="489"/>
              </a:spcAft>
              <a:defRPr sz="1000">
                <a:solidFill>
                  <a:srgbClr val="262626"/>
                </a:solidFill>
                <a:latin typeface="Microsoft YaHei"/>
              </a:defRPr>
            </a:pPr>
            <a:r>
              <a:t>学生 2024003 → 软件设计师           | 2025-05-10 | SD-2025-003   | 78分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API 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FF"/>
                </a:solidFill>
                <a:latin typeface="Microsoft YaHei"/>
              </a:defRPr>
            </a:pPr>
            <a:r>
              <a:t>RESTful API Endpoints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731520"/>
            <a:ext cx="1783080" cy="256032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8229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77FF"/>
                </a:solidFill>
                <a:latin typeface="Microsoft YaHei"/>
              </a:defRPr>
            </a:pPr>
            <a:r>
              <a:t>🔐 认证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34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POST /api/auth/login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4356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登录获取Token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874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GET /api/auth/me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07568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当前用户信息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731520"/>
            <a:ext cx="1783080" cy="256032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8229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77FF"/>
                </a:solidFill>
                <a:latin typeface="Microsoft YaHei"/>
              </a:defRPr>
            </a:pPr>
            <a:r>
              <a:t>👨‍🎓 学生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1234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GET/POST /api/students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14356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CRUD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874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POST batch-import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07568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Excel批量导入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731520"/>
            <a:ext cx="1783080" cy="256032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8229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77FF"/>
                </a:solidFill>
                <a:latin typeface="Microsoft YaHei"/>
              </a:defRPr>
            </a:pPr>
            <a:r>
              <a:t>📜 证书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234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GET/POST /api/certificates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14356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CRUD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1874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GET types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07568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证书类型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0" y="731520"/>
            <a:ext cx="1783080" cy="256032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52760" y="8229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77FF"/>
                </a:solidFill>
                <a:latin typeface="Microsoft YaHei"/>
              </a:defRPr>
            </a:pPr>
            <a:r>
              <a:t>📋 规则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1234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GET/POST /api/registration-rules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52760" y="14356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报名规则CRUD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3566160"/>
            <a:ext cx="1783080" cy="256032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92040" y="36576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77FF"/>
                </a:solidFill>
                <a:latin typeface="Microsoft YaHei"/>
              </a:defRPr>
            </a:pPr>
            <a:r>
              <a:t>📝 报名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4069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GET/POST /api/registrations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27024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列表+新增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47091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PUT /:id/review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491032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审核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3566160"/>
            <a:ext cx="1783080" cy="256032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36576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77FF"/>
                </a:solidFill>
                <a:latin typeface="Microsoft YaHei"/>
              </a:defRPr>
            </a:pPr>
            <a:r>
              <a:t>📄 考试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4069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GET/POST /api/exam-submissions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427024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列表+提交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47091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POST /:id/ai-review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491032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AI审核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5349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PUT /:id/review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55504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人工审核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95360" y="3566160"/>
            <a:ext cx="1783080" cy="256032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32520" y="36576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77FF"/>
                </a:solidFill>
                <a:latin typeface="Microsoft YaHei"/>
              </a:defRPr>
            </a:pPr>
            <a:r>
              <a:t>🏆 记录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32520" y="4069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GET/POST /api/certificate-records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32520" y="427024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CRUD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32520" y="47091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GET /api/stats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491032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统计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515600" y="3566160"/>
            <a:ext cx="1783080" cy="256032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52760" y="36576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77FF"/>
                </a:solidFill>
                <a:latin typeface="Microsoft YaHei"/>
              </a:defRPr>
            </a:pPr>
            <a:r>
              <a:t>📦 归档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52760" y="4069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GET/POST /api/archives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52760" y="427024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列表+归档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52760" y="47091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77FF"/>
                </a:solidFill>
                <a:latin typeface="Microsoft YaHei"/>
              </a:defRPr>
            </a:pPr>
            <a:r>
              <a:t>GET /:id/export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52760" y="491032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C8C8C"/>
                </a:solidFill>
                <a:latin typeface="Microsoft YaHei"/>
              </a:defRPr>
            </a:pPr>
            <a:r>
              <a:t>导出Excel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0" y="6400800"/>
            <a:ext cx="6858000" cy="320040"/>
          </a:xfrm>
          <a:prstGeom prst="rect">
            <a:avLst/>
          </a:prstGeom>
          <a:solidFill>
            <a:srgbClr val="001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37760" y="6400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BBCC"/>
                </a:solidFill>
                <a:latin typeface="Microsoft YaHei"/>
              </a:defRPr>
            </a:pPr>
            <a:r>
              <a:t>共计 30+ RESTful API 端点，涵盖认证、CRUD、审核、统计、归档、教务对接等全部业务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技术亮点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FF"/>
                </a:solidFill>
                <a:latin typeface="Microsoft YaHei"/>
              </a:defRPr>
            </a:pPr>
            <a:r>
              <a:t>Technical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731520"/>
            <a:ext cx="3474720" cy="128016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822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62626"/>
                </a:solidFill>
                <a:latin typeface="Microsoft YaHei"/>
              </a:defRPr>
            </a:pPr>
            <a:r>
              <a:t>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8412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AI 智能审核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23444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626"/>
                </a:solidFill>
                <a:latin typeface="Microsoft YaHei"/>
              </a:defRPr>
            </a:pPr>
            <a:r>
              <a:t>内置三维度 AI 审核引擎，自动评估材料完整性、成绩合格性和前置条件。结果附带置信度和详细评语，审查可追溯。预留真实 AI API 接口，可对接 GPT/Claude 等大模型。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731520"/>
            <a:ext cx="3474720" cy="128016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822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62626"/>
                </a:solidFill>
                <a:latin typeface="Microsoft YaHei"/>
              </a:defRPr>
            </a:pPr>
            <a: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8412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全栈 TypeScript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23444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626"/>
                </a:solidFill>
                <a:latin typeface="Microsoft YaHei"/>
              </a:defRPr>
            </a:pPr>
            <a:r>
              <a:t>前后端统一使用 TypeScript，共享类型定义。编译时类型检查减少运行时错误，IDE 智能提示提升开发效率。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2194560"/>
            <a:ext cx="3474720" cy="128016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62626"/>
                </a:solidFill>
                <a:latin typeface="Microsoft YaHei"/>
              </a:defRPr>
            </a:pPr>
            <a:r>
              <a:t>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3042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零配置数据库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69748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626"/>
                </a:solidFill>
                <a:latin typeface="Microsoft YaHei"/>
              </a:defRPr>
            </a:pPr>
            <a:r>
              <a:t>使用 sql.js（纯 JavaScript 实现的 SQLite），无需安装任何数据库软件。npm install 即可运行，数据持久化到本地文件。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2194560"/>
            <a:ext cx="3474720" cy="128016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62626"/>
                </a:solidFill>
                <a:latin typeface="Microsoft YaHei"/>
              </a:defRPr>
            </a:pPr>
            <a:r>
              <a:t>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3042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JWT 安全认证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69748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626"/>
                </a:solidFill>
                <a:latin typeface="Microsoft YaHei"/>
              </a:defRPr>
            </a:pPr>
            <a:r>
              <a:t>基于 JWT + bcrypt 的认证体系，Token 过期自动刷新，中间件拦截未授权请求。支持超级管理员和普通管理员角色。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3657600"/>
            <a:ext cx="3474720" cy="128016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3749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62626"/>
                </a:solidFill>
                <a:latin typeface="Microsoft YaHei"/>
              </a:defRPr>
            </a:pPr>
            <a: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7673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批量数据处理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16052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626"/>
                </a:solidFill>
                <a:latin typeface="Microsoft YaHei"/>
              </a:defRPr>
            </a:pPr>
            <a:r>
              <a:t>全流程支持 Excel 批量导入（学生/报名/考试/证书记录）。按班级自动归档，一键导出 Excel 报表。使用 xlsx 库实现多格式兼容。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3657600"/>
            <a:ext cx="3474720" cy="128016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749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62626"/>
                </a:solidFill>
                <a:latin typeface="Microsoft YaHei"/>
              </a:defRPr>
            </a:pPr>
            <a:r>
              <a:t>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7673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信息公示门户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16052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626"/>
                </a:solidFill>
                <a:latin typeface="Microsoft YaHei"/>
              </a:defRPr>
            </a:pPr>
            <a:r>
              <a:t>独立公开门户页面，无需登录即可查阅证书信息、培训安排和辅导材料。可嵌入学校官网或公众号。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5120640"/>
            <a:ext cx="3474720" cy="128016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5212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62626"/>
                </a:solidFill>
                <a:latin typeface="Microsoft YaHei"/>
              </a:defRPr>
            </a:pPr>
            <a:r>
              <a:t>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2303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教务系统对接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562356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626"/>
                </a:solidFill>
                <a:latin typeface="Microsoft YaHei"/>
              </a:defRPr>
            </a:pPr>
            <a:r>
              <a:t>标准 RESTful API 对接教务系统，支持按学号查询证书获取情况和批量同步。采用模拟数据演示，可快速替换为真实接口。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5120640"/>
            <a:ext cx="3474720" cy="128016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5212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62626"/>
                </a:solidFill>
                <a:latin typeface="Microsoft YaHei"/>
              </a:defRPr>
            </a:pPr>
            <a:r>
              <a:t>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52303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77FF"/>
                </a:solidFill>
                <a:latin typeface="Microsoft YaHei"/>
              </a:defRPr>
            </a:pPr>
            <a:r>
              <a:t>现代 UI 体验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562356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62626"/>
                </a:solidFill>
                <a:latin typeface="Microsoft YaHei"/>
              </a:defRPr>
            </a:pPr>
            <a:r>
              <a:t>基于 Ant Design 5 组件库，响应式侧边栏布局。统计仪表盘实时展示核心指标，支持多维度筛选。主题可定制。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项目总结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FF"/>
                </a:solidFill>
                <a:latin typeface="Microsoft YaHei"/>
              </a:defRPr>
            </a:pPr>
            <a:r>
              <a:t>Project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731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77FF"/>
                </a:solidFill>
                <a:latin typeface="Microsoft YaHei"/>
              </a:defRPr>
            </a:pPr>
            <a:r>
              <a:t>✅ 系统实现的核心价值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280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Microsoft YaHei"/>
              </a:defRPr>
            </a:pPr>
            <a:r>
              <a:t>✔ 覆盖人社/专业/校内引进三类证书的全生命周期管理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916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Microsoft YaHei"/>
              </a:defRPr>
            </a:pPr>
            <a:r>
              <a:t>✔ 实现从报名→审核→考试→AI审核→归档的完整数字化闭环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Microsoft YaHei"/>
              </a:defRPr>
            </a:pPr>
            <a:r>
              <a:t>✔ 内置 AI 智能审核引擎，提升审核效率和标准一致性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5146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Microsoft YaHei"/>
              </a:defRPr>
            </a:pPr>
            <a:r>
              <a:t>✔ 支持批量数据导入和按班级自动归档，大幅降低人工工作量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Microsoft YaHei"/>
              </a:defRPr>
            </a:pPr>
            <a:r>
              <a:t>✔ 公开信息门户实现证书/培训/材料的统一公示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3375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Microsoft YaHei"/>
              </a:defRPr>
            </a:pPr>
            <a:r>
              <a:t>✔ 预留教务系统对接接口，便于跨系统数据互通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749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Microsoft YaHei"/>
              </a:defRPr>
            </a:pPr>
            <a:r>
              <a:t>✔ 全栈 TypeScript + 零配置数据库，开箱即用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4297680"/>
            <a:ext cx="2011680" cy="77724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4343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736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EEFF"/>
                </a:solidFill>
                <a:latin typeface="Microsoft YaHei"/>
              </a:defRPr>
            </a:pPr>
            <a:r>
              <a:t>功能模块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4297680"/>
            <a:ext cx="2011680" cy="77724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4343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30+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736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EEFF"/>
                </a:solidFill>
                <a:latin typeface="Microsoft YaHei"/>
              </a:defRPr>
            </a:pPr>
            <a:r>
              <a:t>API端点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4297680"/>
            <a:ext cx="2011680" cy="77724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4343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736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EEFF"/>
                </a:solidFill>
                <a:latin typeface="Microsoft YaHei"/>
              </a:defRPr>
            </a:pPr>
            <a:r>
              <a:t>数据库表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5303520"/>
            <a:ext cx="2011680" cy="77724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5349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7424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EEFF"/>
                </a:solidFill>
                <a:latin typeface="Microsoft YaHei"/>
              </a:defRPr>
            </a:pPr>
            <a:r>
              <a:t>证书类型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5303520"/>
            <a:ext cx="2011680" cy="77724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5349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57424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EEFF"/>
                </a:solidFill>
                <a:latin typeface="Microsoft YaHei"/>
              </a:defRPr>
            </a:pPr>
            <a:r>
              <a:t>部署服务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5303520"/>
            <a:ext cx="2011680" cy="777240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5349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57424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EEFF"/>
                </a:solidFill>
                <a:latin typeface="Microsoft YaHei"/>
              </a:defRPr>
            </a:pPr>
            <a:r>
              <a:t>天完成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6400800"/>
            <a:ext cx="6858000" cy="365760"/>
          </a:xfrm>
          <a:prstGeom prst="rect">
            <a:avLst/>
          </a:prstGeom>
          <a:solidFill>
            <a:srgbClr val="001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642823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BBCC"/>
                </a:solidFill>
                <a:latin typeface="Microsoft YaHei"/>
              </a:defRPr>
            </a:pPr>
            <a:r>
              <a:t>🚀 快速启动: cd server &amp;&amp; npm run dev  |  cd client &amp;&amp; npm run dev  （默认账号: admin / admin123）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C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677FF"/>
                </a:solidFill>
                <a:latin typeface="Microsoft YaHei"/>
              </a:defRPr>
            </a:pPr>
            <a:r>
              <a:t>学生校内双证管理系统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474720"/>
            <a:ext cx="2743200" cy="9144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8"/>
              </a:spcAft>
              <a:defRPr sz="1400">
                <a:solidFill>
                  <a:srgbClr val="99BBDD"/>
                </a:solidFill>
                <a:latin typeface="Microsoft YaHei"/>
              </a:defRPr>
            </a:pPr>
            <a:r>
              <a:t>📜 人社证书 · 专业证书 · 校内引进证书 — 全流程数字化管理</a:t>
            </a:r>
          </a:p>
          <a:p>
            <a:pPr>
              <a:spcAft>
                <a:spcPts val="588"/>
              </a:spcAft>
              <a:defRPr sz="1400">
                <a:solidFill>
                  <a:srgbClr val="99BBDD"/>
                </a:solidFill>
                <a:latin typeface="Microsoft YaHei"/>
              </a:defRPr>
            </a:pPr>
            <a:r>
              <a:t>🤖 AI 智能审核引擎 — 三维度自动评估</a:t>
            </a:r>
          </a:p>
          <a:p>
            <a:pPr>
              <a:spcAft>
                <a:spcPts val="588"/>
              </a:spcAft>
              <a:defRPr sz="1400">
                <a:solidFill>
                  <a:srgbClr val="99BBDD"/>
                </a:solidFill>
                <a:latin typeface="Microsoft YaHei"/>
              </a:defRPr>
            </a:pPr>
            <a:r>
              <a:t>📦 批量导入 &amp; 按班级归档 — 高效数据管理</a:t>
            </a:r>
          </a:p>
          <a:p>
            <a:pPr>
              <a:spcAft>
                <a:spcPts val="588"/>
              </a:spcAft>
              <a:defRPr sz="1400">
                <a:solidFill>
                  <a:srgbClr val="99BBDD"/>
                </a:solidFill>
                <a:latin typeface="Microsoft YaHei"/>
              </a:defRPr>
            </a:pPr>
            <a:r>
              <a:t>🌐 公开信息门户 — 透明化信息公示</a:t>
            </a:r>
          </a:p>
          <a:p>
            <a:pPr>
              <a:spcAft>
                <a:spcPts val="588"/>
              </a:spcAft>
              <a:defRPr sz="1400">
                <a:solidFill>
                  <a:srgbClr val="99BBDD"/>
                </a:solidFill>
                <a:latin typeface="Microsoft YaHei"/>
              </a:defRPr>
            </a:pPr>
          </a:p>
          <a:p>
            <a:pPr>
              <a:spcAft>
                <a:spcPts val="588"/>
              </a:spcAft>
              <a:defRPr sz="1400">
                <a:solidFill>
                  <a:srgbClr val="99BBDD"/>
                </a:solidFill>
                <a:latin typeface="Microsoft YaHei"/>
              </a:defRPr>
            </a:pPr>
            <a:r>
              <a:t>技术栈: React 18 + TypeScript + Ant Design 5 | Node.js + Express + SQLite</a:t>
            </a:r>
          </a:p>
          <a:p>
            <a:pPr>
              <a:spcAft>
                <a:spcPts val="588"/>
              </a:spcAft>
              <a:defRPr sz="1400">
                <a:solidFill>
                  <a:srgbClr val="99BBDD"/>
                </a:solidFill>
                <a:latin typeface="Microsoft YaHei"/>
              </a:defRPr>
            </a:pPr>
            <a:r>
              <a:t>前端: http://localhost:5173 | 后端: http://localhost:3001</a:t>
            </a:r>
          </a:p>
          <a:p>
            <a:pPr>
              <a:spcAft>
                <a:spcPts val="588"/>
              </a:spcAft>
              <a:defRPr sz="1400">
                <a:solidFill>
                  <a:srgbClr val="99BBDD"/>
                </a:solidFill>
                <a:latin typeface="Microsoft YaHei"/>
              </a:defRPr>
            </a:pPr>
            <a:r>
              <a:t>默认账号: admin / admin123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