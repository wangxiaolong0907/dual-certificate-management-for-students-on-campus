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828800"/>
            <a:ext cx="2286000" cy="1371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114800"/>
            <a:ext cx="9144000" cy="7315"/>
          </a:xfrm>
          <a:prstGeom prst="rect">
            <a:avLst/>
          </a:prstGeom>
          <a:solidFill>
            <a:srgbClr val="3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学生校内双证管理系统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88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BBDD"/>
                </a:solidFill>
                <a:latin typeface="Microsoft YaHei"/>
              </a:defRPr>
            </a:pPr>
            <a:r>
              <a:t>Dual Certificate Management System for Students on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8C"/>
                </a:solidFill>
                <a:latin typeface="Microsoft YaHei"/>
              </a:defRPr>
            </a:pPr>
            <a:r>
              <a:t>管理端 + 学生端   |   人社/专业/校内引进三类证书   |   报名→考试→AI审核→归档  全流程管理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技术栈：React 18 + TypeScript + Ant Design 5   |   Node.js + Express + SQLite   |   JWT 双角色认证   |   AI 智能审核引擎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88AA"/>
                </a:solidFill>
                <a:latin typeface="Microsoft YaHei"/>
              </a:defRPr>
            </a:pPr>
            <a:r>
              <a:t>管理端 :5173 · 学生端 :5174 · 公开门户 /public · 后端 API :3001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Project 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731520"/>
            <a:ext cx="6675120" cy="25603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9144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🎯 核心痛点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7160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学校内部多种证书管理混乱 — 人社、专业、校内引进三种类型各自为政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报名→考试→取证全流程依赖纸质表格和人工传递，效率低下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成绩审核缺乏统一标准，人工审核主观性强、工作量巨大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证书数据分散在多个系统，无法统一查询统计和班级归档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学生缺乏自助查询入口，培训信息和辅导材料缺少统一公示平台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管理员和学生之间信息不对称，学生无法实时了解审核进度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3657600"/>
            <a:ext cx="6675120" cy="27432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8404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2C41A"/>
                </a:solidFill>
                <a:latin typeface="Microsoft YaHei"/>
              </a:defRPr>
            </a:pPr>
            <a:r>
              <a:t>✅ 系统目标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9768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建立统一的校内双证管理平台，覆盖三种证书类型的全生命周期管理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管理端 + 学生端双平台架构，管理员全局管控，学生自助操作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报名→审核→考试→AI审核→归档的全流程数字化闭环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通过 AI 辅助审核提升审核效率与标准一致性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按班级自动归档，一键生成 Excel 报表</a:t>
            </a:r>
          </a:p>
          <a:p>
            <a:pPr>
              <a:spcAft>
                <a:spcPts val="672"/>
              </a:spcAft>
              <a:defRPr sz="1200">
                <a:solidFill>
                  <a:srgbClr val="262626"/>
                </a:solidFill>
                <a:latin typeface="Microsoft YaHei"/>
              </a:defRPr>
            </a:pPr>
            <a:r>
              <a:t>• 公开门户实现证书信息/培训/材料的统一公示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457200"/>
            <a:ext cx="3200400" cy="256032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YaHei"/>
              </a:defRPr>
            </a:pPr>
            <a:r>
              <a:t>🔧 管理端 (Port 5173)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868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admin / admin123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1887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📊 仪表盘 — 多维度数据统计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👨‍🎓 学生管理 — CRUD + 批量导入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📜 证书管理 — 三类证书 + 报名规则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📝 报名管理 — 报名审核（批准/拒绝）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📄 考试管理 — AI审核 + 人工复核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🏆 证书记录 — 获取情况管理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📦 归档管理 — 按班归档 + Excel导出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📖 培训 &amp; 辅导材料管理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57200"/>
            <a:ext cx="3200400" cy="2560320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22ED1"/>
                </a:solidFill>
                <a:latin typeface="Microsoft YaHei"/>
              </a:defRPr>
            </a:pPr>
            <a:r>
              <a:t>🎓 学生端 (Port 5174)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868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学号 / 密码（学号后6位）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1887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📊 我的仪表盘 — 个人统计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🎯 证书报名 — 浏览 + 一键报名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📋 我的报名 — 审核状态查看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📝 我的考试 — 考试成绩提交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🏆 我的证书 — 已获证书记录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📖 学习资源 — 培训 + 辅导材料</a:t>
            </a:r>
          </a:p>
          <a:p>
            <a:pPr>
              <a:spcAft>
                <a:spcPts val="315"/>
              </a:spcAft>
              <a:defRPr sz="900">
                <a:solidFill>
                  <a:srgbClr val="262626"/>
                </a:solidFill>
                <a:latin typeface="Microsoft YaHei"/>
              </a:defRPr>
            </a:pPr>
            <a:r>
              <a:t>👤 个人信息 — 查看 &amp; 修改密码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371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62626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C8C8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C8C8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383280"/>
            <a:ext cx="6766560" cy="1371600"/>
          </a:xfrm>
          <a:prstGeom prst="roundRect">
            <a:avLst/>
          </a:prstGeom>
          <a:solidFill>
            <a:srgbClr val="08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474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⚙️ Express Server (Port 3001) — Node.js +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840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9"/>
              </a:spcAft>
              <a:defRPr sz="1000">
                <a:solidFill>
                  <a:srgbClr val="DDEEFF"/>
                </a:solidFill>
                <a:latin typeface="Microsoft YaHei"/>
              </a:defRPr>
            </a:pPr>
            <a:r>
              <a:t>JWT 双角色认证 (admin + student)  |  10 个 Controller 模块  |  AI 审核引擎  |  Multer 文件上传  |  XLSX 解析</a:t>
            </a:r>
          </a:p>
          <a:p>
            <a:pPr>
              <a:spcAft>
                <a:spcPts val="279"/>
              </a:spcAft>
              <a:defRPr sz="1000">
                <a:solidFill>
                  <a:srgbClr val="DDEEFF"/>
                </a:solidFill>
                <a:latin typeface="Microsoft YaHei"/>
              </a:defRPr>
            </a:pPr>
            <a:r>
              <a:t>50+ RESTful API 端点 — 管理端 30+  /  学生端 10+  /  公开接口 2  /  教务对接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54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C8C8C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5120640"/>
            <a:ext cx="6766560" cy="914400"/>
          </a:xfrm>
          <a:prstGeom prst="roundRect">
            <a:avLst/>
          </a:prstGeom>
          <a:solidFill>
            <a:srgbClr val="00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1663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🗄️ SQLite (sql.js — 纯 JS 实现，零安装依赖)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532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Microsoft YaHei"/>
              </a:defRPr>
            </a:pPr>
            <a:r>
              <a:t>users | students(含密码) | certificate_types | certificates | registration_rules | training_materials | student_registrations | exam_submissions | certificate_records | archives | archive_details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6309360"/>
            <a:ext cx="6766560" cy="36576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633679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🌐 公开门户 /public — 证书信息展示 + 培训公示 + 辅导材料查阅（无需登录）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证书类型体系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Certificate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914400"/>
            <a:ext cx="2194560" cy="53035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46320" y="914400"/>
            <a:ext cx="2194560" cy="82296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677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234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77FF"/>
                </a:solidFill>
                <a:latin typeface="Microsoft YaHei"/>
              </a:defRPr>
            </a:pPr>
            <a:r>
              <a:t>人社证书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645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RENSHE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626"/>
                </a:solidFill>
                <a:latin typeface="Microsoft YaHei"/>
              </a:defRPr>
            </a:pPr>
            <a:r>
              <a:t>人社部门颁发的</a:t>
            </a:r>
            <a:br/>
            <a:r>
              <a:t>职业资格证书</a:t>
            </a:r>
            <a:br/>
            <a:r>
              <a:t>（必须获取）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C8C8C"/>
                </a:solidFill>
                <a:latin typeface="Microsoft YaHei"/>
              </a:defRPr>
            </a:pPr>
            <a:r>
              <a:t>示例证书：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计算机等级考试二级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英语四级(CET-4)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电工证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焊工证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914400"/>
            <a:ext cx="2194560" cy="53035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914400"/>
            <a:ext cx="2194560" cy="82296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52C41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234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2C41A"/>
                </a:solidFill>
                <a:latin typeface="Microsoft YaHei"/>
              </a:defRPr>
            </a:pPr>
            <a:r>
              <a:t>专业证书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645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ZHUANYE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1945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626"/>
                </a:solidFill>
                <a:latin typeface="Microsoft YaHei"/>
              </a:defRPr>
            </a:pPr>
            <a:r>
              <a:t>专业相关的</a:t>
            </a:r>
            <a:br/>
            <a:r>
              <a:t>行业认证证书</a:t>
            </a:r>
            <a:br/>
            <a:r>
              <a:t>（必须获取）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C8C8C"/>
                </a:solidFill>
                <a:latin typeface="Microsoft YaHei"/>
              </a:defRPr>
            </a:pPr>
            <a:r>
              <a:t>示例证书：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会计从业资格证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软件设计师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建造师资格证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网络工程师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914400"/>
            <a:ext cx="2194560" cy="5303520"/>
          </a:xfrm>
          <a:prstGeom prst="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914400"/>
            <a:ext cx="2194560" cy="82296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10972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8C1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1234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8C16"/>
                </a:solidFill>
                <a:latin typeface="Microsoft YaHei"/>
              </a:defRPr>
            </a:pPr>
            <a:r>
              <a:t>校内引进证书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1645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C8C8C"/>
                </a:solidFill>
                <a:latin typeface="Microsoft YaHei"/>
              </a:defRPr>
            </a:pPr>
            <a:r>
              <a:t>XIAONEI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1945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62626"/>
                </a:solidFill>
                <a:latin typeface="Microsoft YaHei"/>
              </a:defRPr>
            </a:pPr>
            <a:r>
              <a:t>学校引进的</a:t>
            </a:r>
            <a:br/>
            <a:r>
              <a:t>技能认证证书</a:t>
            </a:r>
            <a:br/>
            <a:r>
              <a:t>（可选获取）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C8C8C"/>
                </a:solidFill>
                <a:latin typeface="Microsoft YaHei"/>
              </a:defRPr>
            </a:pPr>
            <a:r>
              <a:t>示例证书：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普通话等级证书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160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电子商务师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市场营销师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▸ 数据分析师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6400800"/>
            <a:ext cx="6858000" cy="365760"/>
          </a:xfrm>
          <a:prstGeom prst="rect">
            <a:avLst/>
          </a:prstGeom>
          <a:solidFill>
            <a:srgbClr val="00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642823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BBCC"/>
                </a:solidFill>
                <a:latin typeface="Microsoft YaHei"/>
              </a:defRPr>
            </a:pPr>
            <a:r>
              <a:t>系统支持自定义证书类型和证书信息，管理员可灵活配置报名规则（时间范围、容量限制、报名条件 JSON）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管理端 — 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DDFF"/>
                </a:solidFill>
                <a:latin typeface="Microsoft YaHei"/>
              </a:defRPr>
            </a:pPr>
            <a:r>
              <a:t>Admin Portal — 全局数据管理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仪表盘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学生总数/获证总数</a:t>
            </a:r>
            <a:br/>
            <a:r>
              <a:t>报名总数/待审核数</a:t>
            </a:r>
            <a:br/>
            <a:r>
              <a:t>类型统计/班级统计</a:t>
            </a:r>
            <a:br/>
            <a:r>
              <a:t>月度趋势图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👨‍🎓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学生管理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CRUD管理</a:t>
            </a:r>
            <a:br/>
            <a:r>
              <a:t>Excel批量导入</a:t>
            </a:r>
            <a:br/>
            <a:r>
              <a:t>按班级/学号搜索</a:t>
            </a:r>
            <a:br/>
            <a:r>
              <a:t>新增自动设密码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证书管理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3种证书类型维护</a:t>
            </a:r>
            <a:br/>
            <a:r>
              <a:t>证书信息+颁发机构</a:t>
            </a:r>
            <a:br/>
            <a:r>
              <a:t>报名规则配置</a:t>
            </a:r>
            <a:br/>
            <a:r>
              <a:t>时间/容量/条件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报名管理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学生报名创建</a:t>
            </a:r>
            <a:br/>
            <a:r>
              <a:t>审核批准/拒绝</a:t>
            </a:r>
            <a:br/>
            <a:r>
              <a:t>审核意见填写</a:t>
            </a:r>
            <a:br/>
            <a:r>
              <a:t>批量导入报名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考试管理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考试成绩录入</a:t>
            </a:r>
            <a:br/>
            <a:r>
              <a:t>AI智能审核</a:t>
            </a:r>
            <a:br/>
            <a:r>
              <a:t>人工复核审批</a:t>
            </a:r>
            <a:br/>
            <a:r>
              <a:t>批量导入考试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97764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证书记录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获取情况管理</a:t>
            </a:r>
            <a:br/>
            <a:r>
              <a:t>证书编号/成绩</a:t>
            </a:r>
            <a:br/>
            <a:r>
              <a:t>批量导入记录</a:t>
            </a:r>
            <a:br/>
            <a:r>
              <a:t>自动统计报表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7764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归档管理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按班级归档</a:t>
            </a:r>
            <a:br/>
            <a:r>
              <a:t>学生通过率统计</a:t>
            </a:r>
            <a:br/>
            <a:r>
              <a:t>Excel一键导出</a:t>
            </a:r>
            <a:br/>
            <a:r>
              <a:t>归档详情查看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977640"/>
            <a:ext cx="2697480" cy="237744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培训&amp;材料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培训信息/辅导材料</a:t>
            </a:r>
            <a:br/>
            <a:r>
              <a:t>视频/文档/链接</a:t>
            </a:r>
            <a:br/>
            <a:r>
              <a:t>公开/内部可见</a:t>
            </a:r>
            <a:br/>
            <a:r>
              <a:t>文件上传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学生端 — 核心功能模块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DCCFF"/>
                </a:solidFill>
                <a:latin typeface="Microsoft YaHei"/>
              </a:defRPr>
            </a:pPr>
            <a:r>
              <a:t>Student Portal — 自助报名 &amp; 成绩提交 &amp; 证书查看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学号登录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学号+密码认证</a:t>
            </a:r>
            <a:br/>
            <a:r>
              <a:t>默认密码=学号后6位</a:t>
            </a:r>
            <a:br/>
            <a:r>
              <a:t>首次登录提醒改密</a:t>
            </a:r>
            <a:br/>
            <a:r>
              <a:t>JWT Token 24h有效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我的仪表盘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报名数/考试数</a:t>
            </a:r>
            <a:br/>
            <a:r>
              <a:t>获证数/待审核数</a:t>
            </a:r>
            <a:br/>
            <a:r>
              <a:t>各类型获取统计</a:t>
            </a:r>
            <a:br/>
            <a:r>
              <a:t>最近报名记录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证书报名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浏览可报名证书</a:t>
            </a:r>
            <a:br/>
            <a:r>
              <a:t>一键报名按钮</a:t>
            </a:r>
            <a:br/>
            <a:r>
              <a:t>自动校验名额</a:t>
            </a:r>
            <a:br/>
            <a:r>
              <a:t>实时显示报名状态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37160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我的报名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个人全部报名记录</a:t>
            </a:r>
            <a:br/>
            <a:r>
              <a:t>审核状态查看</a:t>
            </a:r>
            <a:br/>
            <a:r>
              <a:t>通过/拒绝/审核中</a:t>
            </a:r>
            <a:br/>
            <a:r>
              <a:t>审核意见显示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7764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我的考试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考试记录查看</a:t>
            </a:r>
            <a:br/>
            <a:r>
              <a:t>提交考试成绩</a:t>
            </a:r>
            <a:br/>
            <a:r>
              <a:t>上传成绩单附件</a:t>
            </a:r>
            <a:br/>
            <a:r>
              <a:t>AI+人工审核进度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97764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我的证书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已获证书记录</a:t>
            </a:r>
            <a:br/>
            <a:r>
              <a:t>证书编号/成绩</a:t>
            </a:r>
            <a:br/>
            <a:r>
              <a:t>获取日期展示</a:t>
            </a:r>
            <a:br/>
            <a:r>
              <a:t>按类型分类查看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97764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学习资源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培训信息查看</a:t>
            </a:r>
            <a:br/>
            <a:r>
              <a:t>辅导材料查阅</a:t>
            </a:r>
            <a:br/>
            <a:r>
              <a:t>视频/文档/链接</a:t>
            </a:r>
            <a:br/>
            <a:r>
              <a:t>Tab分类切换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3977640"/>
            <a:ext cx="2697480" cy="23774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262626"/>
                </a:solidFill>
                <a:latin typeface="Microsoft YaHei"/>
              </a:defRPr>
            </a:pPr>
            <a:r>
              <a:t>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114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22ED1"/>
                </a:solidFill>
                <a:latin typeface="Microsoft YaHei"/>
              </a:defRPr>
            </a:pPr>
            <a:r>
              <a:t>个人中心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7091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个人信息查看</a:t>
            </a:r>
            <a:br/>
            <a:r>
              <a:t>学号/班级/专业</a:t>
            </a:r>
            <a:br/>
            <a:r>
              <a:t>修改密码功能</a:t>
            </a:r>
            <a:br/>
            <a:r>
              <a:t>安全退出登录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🤖 AI 智能审核引擎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ACC"/>
                </a:solidFill>
                <a:latin typeface="Microsoft YaHei"/>
              </a:defRPr>
            </a:pPr>
            <a:r>
              <a:t>三维度智能评估 — 材料完整性 × 成绩合格性 × 前置条件审核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74720" cy="228600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62626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677FF"/>
                </a:solidFill>
                <a:latin typeface="Microsoft YaHei"/>
              </a:defRPr>
            </a:pPr>
            <a:r>
              <a:t>材料完整性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CC"/>
                </a:solidFill>
                <a:latin typeface="Microsoft YaHei"/>
              </a:defRPr>
            </a:pPr>
            <a:r>
              <a:t>检查是否上传了</a:t>
            </a:r>
            <a:br/>
            <a:r>
              <a:t>考试结果附件材料</a:t>
            </a:r>
            <a:br/>
            <a:r>
              <a:t>（成绩单/证书扫描件）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474720" cy="228600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3474720" cy="54864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62626"/>
                </a:solidFill>
                <a:latin typeface="Microsoft YaHei"/>
              </a:defRPr>
            </a:pPr>
            <a: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2C41A"/>
                </a:solidFill>
                <a:latin typeface="Microsoft YaHei"/>
              </a:defRPr>
            </a:pPr>
            <a:r>
              <a:t>成绩合格性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CC"/>
                </a:solidFill>
                <a:latin typeface="Microsoft YaHei"/>
              </a:defRPr>
            </a:pPr>
            <a:r>
              <a:t>验证考试成绩是否</a:t>
            </a:r>
            <a:br/>
            <a:r>
              <a:t>达到及格线标准</a:t>
            </a:r>
            <a:br/>
            <a:r>
              <a:t>（默认 60 分）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645920"/>
            <a:ext cx="3474720" cy="228600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645920"/>
            <a:ext cx="3474720" cy="54864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262626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65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8C16"/>
                </a:solidFill>
                <a:latin typeface="Microsoft YaHei"/>
              </a:defRPr>
            </a:pPr>
            <a:r>
              <a:t>前置条件审核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CC"/>
                </a:solidFill>
                <a:latin typeface="Microsoft YaHei"/>
              </a:defRPr>
            </a:pPr>
            <a:r>
              <a:t>确认报名是否已通过</a:t>
            </a:r>
            <a:br/>
            <a:r>
              <a:t>管理员审核</a:t>
            </a:r>
            <a:br/>
            <a:r>
              <a:t>确保流程合规性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审核结果输出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54880"/>
            <a:ext cx="3474720" cy="137160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3474720" cy="54864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2C41A"/>
                </a:solidFill>
                <a:latin typeface="Microsoft YaHei"/>
              </a:defRPr>
            </a:pPr>
            <a:r>
              <a:t>✅ 通过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材料完整</a:t>
            </a:r>
            <a:br/>
            <a:r>
              <a:t>成绩合格</a:t>
            </a:r>
            <a:br/>
            <a:r>
              <a:t>前置满足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754880"/>
            <a:ext cx="3474720" cy="137160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4754880"/>
            <a:ext cx="3474720" cy="54864"/>
          </a:xfrm>
          <a:prstGeom prst="rect">
            <a:avLst/>
          </a:prstGeom>
          <a:solidFill>
            <a:srgbClr val="FA8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4937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8C16"/>
                </a:solidFill>
                <a:latin typeface="Microsoft YaHei"/>
              </a:defRPr>
            </a:pPr>
            <a:r>
              <a:t>⚠️ 需补充材料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材料不完整</a:t>
            </a:r>
            <a:br/>
            <a:r>
              <a:t>需补充附件后重审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0" y="4754880"/>
            <a:ext cx="3474720" cy="137160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12480" y="4754880"/>
            <a:ext cx="3474720" cy="54864"/>
          </a:xfrm>
          <a:prstGeom prst="rect">
            <a:avLst/>
          </a:prstGeom>
          <a:solidFill>
            <a:srgbClr val="FF4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4937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4F"/>
                </a:solidFill>
                <a:latin typeface="Microsoft YaHei"/>
              </a:defRPr>
            </a:pPr>
            <a:r>
              <a:t>❌ 不通过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394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成绩不达标</a:t>
            </a:r>
            <a:br/>
            <a:r>
              <a:t>或前置条件未满足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88AA"/>
                </a:solidFill>
                <a:latin typeface="Microsoft YaHei"/>
              </a:defRPr>
            </a:pPr>
            <a:r>
              <a:t>💡 内置模拟AI引擎 (server/src/services/aiReviewService.ts)，审核附置信度评分，可替换为真实 AI API（GPT/Claude）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业务流程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Business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548640"/>
            <a:ext cx="6858000" cy="27432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640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77FF"/>
                </a:solidFill>
                <a:latin typeface="Microsoft YaHei"/>
              </a:defRPr>
            </a:pPr>
            <a:r>
              <a:t>🔧 管理端 — 全流程管理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05156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创建学生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783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录入信息/批量导入</a:t>
            </a:r>
            <a:br/>
            <a:r>
              <a:t>自动设密码(学号后6位)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5156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配置证书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定义证书类型</a:t>
            </a:r>
            <a:br/>
            <a:r>
              <a:t>设置报名规则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05156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审核报名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783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批准/拒绝</a:t>
            </a:r>
            <a:br/>
            <a:r>
              <a:t>填写审核意见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05156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管理考试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783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AI+人工审核</a:t>
            </a:r>
            <a:br/>
            <a:r>
              <a:t>通过后自动生成证书记录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105156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1143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按班归档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783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自动汇总</a:t>
            </a:r>
            <a:br/>
            <a:r>
              <a:t>一键导出Excel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3566160"/>
            <a:ext cx="6858000" cy="2743200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657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22ED1"/>
                </a:solidFill>
                <a:latin typeface="Microsoft YaHei"/>
              </a:defRPr>
            </a:pPr>
            <a:r>
              <a:t>🎓 学生端 — 自助操作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406908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834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22ED1"/>
                </a:solidFill>
                <a:latin typeface="Microsoft YaHei"/>
              </a:defRPr>
            </a:pPr>
            <a:r>
              <a:t>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学号登录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8006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学号+密码</a:t>
            </a:r>
            <a:br/>
            <a:r>
              <a:t>(默认学号后6位)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074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06908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22ED1"/>
                </a:solidFill>
                <a:latin typeface="Microsoft YaHei"/>
              </a:defRPr>
            </a:pPr>
            <a:r>
              <a:t>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浏览证书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8006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查看可报名证书</a:t>
            </a:r>
            <a:br/>
            <a:r>
              <a:t>一键报名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5074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0" y="406908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266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22ED1"/>
                </a:solidFill>
                <a:latin typeface="Microsoft YaHei"/>
              </a:defRPr>
            </a:pPr>
            <a:r>
              <a:t>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查看审核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80" y="48006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报名状态跟踪</a:t>
            </a:r>
            <a:br/>
            <a:r>
              <a:t>查看审核意见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69680" y="5074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52560" y="406908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82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22ED1"/>
                </a:solidFill>
                <a:latin typeface="Microsoft YaHei"/>
              </a:defRPr>
            </a:pPr>
            <a:r>
              <a:t>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提交考试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8280" y="48006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上传成绩单</a:t>
            </a:r>
            <a:br/>
            <a:r>
              <a:t>填写分数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507492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60" y="4069080"/>
            <a:ext cx="1188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69880" y="41605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22ED1"/>
                </a:solidFill>
                <a:latin typeface="Microsoft YaHei"/>
              </a:defRPr>
            </a:pPr>
            <a: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6988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2626"/>
                </a:solidFill>
                <a:latin typeface="Microsoft YaHei"/>
              </a:defRPr>
            </a:pPr>
            <a:r>
              <a:t>查看证书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69880" y="480060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C8C8C"/>
                </a:solidFill>
                <a:latin typeface="Microsoft YaHei"/>
              </a:defRPr>
            </a:pPr>
            <a:r>
              <a:t>已获证书记录</a:t>
            </a:r>
            <a:br/>
            <a:r>
              <a:t>证书编号+成绩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认证与权限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Authentication &amp; Authorization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548640"/>
            <a:ext cx="6858000" cy="1828800"/>
          </a:xfrm>
          <a:prstGeom prst="roundRect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6400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77FF"/>
                </a:solidFill>
                <a:latin typeface="Microsoft YaHei"/>
              </a:defRPr>
            </a:pPr>
            <a:r>
              <a:t>🔐 JWT 双角色认证体系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16"/>
              </a:spcAft>
              <a:defRPr sz="1100">
                <a:solidFill>
                  <a:srgbClr val="262626"/>
                </a:solidFill>
                <a:latin typeface="Microsoft YaHei"/>
              </a:defRPr>
            </a:pPr>
            <a:r>
              <a:t>• Token 过期时间: 24小时，过期自动跳转登录页</a:t>
            </a:r>
          </a:p>
          <a:p>
            <a:pPr>
              <a:spcAft>
                <a:spcPts val="616"/>
              </a:spcAft>
              <a:defRPr sz="1100">
                <a:solidFill>
                  <a:srgbClr val="262626"/>
                </a:solidFill>
                <a:latin typeface="Microsoft YaHei"/>
              </a:defRPr>
            </a:pPr>
            <a:r>
              <a:t>• bcrypt 加密存储密码，默认密码为学号后6位</a:t>
            </a:r>
          </a:p>
          <a:p>
            <a:pPr>
              <a:spcAft>
                <a:spcPts val="616"/>
              </a:spcAft>
              <a:defRPr sz="1100">
                <a:solidFill>
                  <a:srgbClr val="262626"/>
                </a:solidFill>
                <a:latin typeface="Microsoft YaHei"/>
              </a:defRPr>
            </a:pPr>
            <a:r>
              <a:t>• 管理端中间件 requireAuth  + 学生端中间件 requireStudentAuth</a:t>
            </a:r>
          </a:p>
          <a:p>
            <a:pPr>
              <a:spcAft>
                <a:spcPts val="616"/>
              </a:spcAft>
              <a:defRPr sz="1100">
                <a:solidFill>
                  <a:srgbClr val="262626"/>
                </a:solidFill>
                <a:latin typeface="Microsoft YaHei"/>
              </a:defRPr>
            </a:pPr>
            <a:r>
              <a:t>• 请求拦截器自动注入 Authorization: Bearer &lt;token&gt;</a:t>
            </a:r>
          </a:p>
          <a:p>
            <a:pPr>
              <a:spcAft>
                <a:spcPts val="616"/>
              </a:spcAft>
              <a:defRPr sz="1100">
                <a:solidFill>
                  <a:srgbClr val="262626"/>
                </a:solidFill>
                <a:latin typeface="Microsoft YaHei"/>
              </a:defRPr>
            </a:pPr>
            <a:r>
              <a:t>• 401 自动清除 token 并重定向至登录页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Microsoft YaHei"/>
              </a:defRPr>
            </a:pPr>
            <a:r>
              <a:t>双端账号体系对比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108960"/>
            <a:ext cx="1645920" cy="36576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154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108960"/>
            <a:ext cx="2468880" cy="36576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管理端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108960"/>
            <a:ext cx="2468880" cy="365760"/>
          </a:xfrm>
          <a:prstGeom prst="roundRect">
            <a:avLst/>
          </a:prstGeom>
          <a:solidFill>
            <a:srgbClr val="722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学生端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474720"/>
            <a:ext cx="164592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5204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62626"/>
                </a:solidFill>
                <a:latin typeface="Microsoft YaHei"/>
              </a:defRPr>
            </a:pPr>
            <a:r>
              <a:t>登录方式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347472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用户名 + 密码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7472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学号 + 密码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840480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38862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62626"/>
                </a:solidFill>
                <a:latin typeface="Microsoft YaHei"/>
              </a:defRPr>
            </a:pPr>
            <a:r>
              <a:t>登录接口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840480"/>
            <a:ext cx="24688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POST /api/auth/login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840480"/>
            <a:ext cx="24688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POST /api/student-auth/login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206240"/>
            <a:ext cx="164592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4251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62626"/>
                </a:solidFill>
                <a:latin typeface="Microsoft YaHei"/>
              </a:defRPr>
            </a:pPr>
            <a:r>
              <a:t>Token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420624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admin / super_admin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420624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student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4572000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4617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62626"/>
                </a:solidFill>
                <a:latin typeface="Microsoft YaHei"/>
              </a:defRPr>
            </a:pPr>
            <a:r>
              <a:t>密码修改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4572000"/>
            <a:ext cx="24688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572000"/>
            <a:ext cx="24688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POST /api/student-auth/change-password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4937760"/>
            <a:ext cx="164592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49834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62626"/>
                </a:solidFill>
                <a:latin typeface="Microsoft YaHei"/>
              </a:defRPr>
            </a:pPr>
            <a:r>
              <a:t>默认密码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493776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admin123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493776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学号后6位 (bcrypt哈希)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0" y="5303520"/>
            <a:ext cx="164592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20640" y="5349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62626"/>
                </a:solidFill>
                <a:latin typeface="Microsoft YaHei"/>
              </a:defRPr>
            </a:pPr>
            <a:r>
              <a:t>权限范围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5120" y="5303520"/>
            <a:ext cx="24688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全部数据的 CRUD + 审核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5303520"/>
            <a:ext cx="24688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仅自己的报名/考试/证书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0" y="5669280"/>
            <a:ext cx="164592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57150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62626"/>
                </a:solidFill>
                <a:latin typeface="Microsoft YaHei"/>
              </a:defRPr>
            </a:pPr>
            <a:r>
              <a:t>端口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75120" y="566928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http://localhost:5173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0" y="5669280"/>
            <a:ext cx="2468880" cy="365760"/>
          </a:xfrm>
          <a:prstGeom prst="round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5715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http://localhost:5174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760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2626"/>
                </a:solidFill>
                <a:latin typeface="Microsoft YaHei"/>
              </a:defRPr>
            </a:pPr>
            <a:r>
              <a:t>🔑 默认账号速查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6080760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管理员: admin / admin123      (管理端 http://localhost:5173)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12080" y="6281928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学生张三: 2024001 / 024001     (学生端 http://localhost:5174)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80" y="6483096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学生李四: 2024002 / 24002      (学生端 http://localhost:5174)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0" y="6684264"/>
            <a:ext cx="5943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学生王五: 2024003 / 24003      (学生端 http://localhost:5174)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API 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RESTful API (50+ Endpoints)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457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77FF"/>
                </a:solidFill>
                <a:latin typeface="Microsoft YaHei"/>
              </a:defRPr>
            </a:pPr>
            <a:r>
              <a:t>🔧 管理端 API (30+)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14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960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🔐 认证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234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POST /api/auth/login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399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管理员登录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37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 /api/auth/me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901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当前用户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914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960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👨‍🎓 学生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234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399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CRUD + 分页搜索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37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PUT/DELETE /:id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01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编辑删除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402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POST batch-import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40487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Excel批量导入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914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960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📜 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234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/api/certificates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1399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CRUD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1737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901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证书类型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914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960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📋 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234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/api/registration-rules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1399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报名规则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89920" y="914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81360" y="960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📝 报名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1234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/api/registrations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1399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报名CRUD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1737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PUT /:id/review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1901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审核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3200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📄 考试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3520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/api/exam-submissions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3685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考试CRUD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023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POST /:id/ai-review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187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AI审核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5262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PUT /:id/review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469087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人工审核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3200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🏆 记录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520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/api/certificate-records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3685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CRUD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4023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 /api/stats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4187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仪表盘统计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3200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📦 归档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63840" y="3520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/api/archives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3685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归档管理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4023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 /:id/export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4187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导出Excel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3200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📖 培训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600" y="3520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GET/POST /api/training-materials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3685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培训+材料CRUD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789920" y="3200400"/>
            <a:ext cx="1371600" cy="201168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8136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77FF"/>
                </a:solidFill>
                <a:latin typeface="Microsoft YaHei"/>
              </a:defRPr>
            </a:pPr>
            <a:r>
              <a:t>🔗 教务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81360" y="352044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GET /api/edusys/certificates/:no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36850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按学号查询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40233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677FF"/>
                </a:solidFill>
                <a:latin typeface="Microsoft YaHei"/>
              </a:defRPr>
            </a:pPr>
            <a:r>
              <a:t>POST /api/edusys/sync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81360" y="418795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C8C8C"/>
                </a:solidFill>
                <a:latin typeface="Microsoft YaHei"/>
              </a:defRPr>
            </a:pPr>
            <a:r>
              <a:t>批量同步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6320" y="4754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22ED1"/>
                </a:solidFill>
                <a:latin typeface="Microsoft YaHei"/>
              </a:defRPr>
            </a:pPr>
            <a:r>
              <a:t>🎓 学生端 API (12)            🌐 公开接口 (2)            🔗 教务对接 (2)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5120640"/>
            <a:ext cx="6858000" cy="1463040"/>
          </a:xfrm>
          <a:prstGeom prst="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0" y="5394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A8C16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85232" y="5394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/api/student-auth/login — 学号密码登录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0" y="56235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A8C16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85232" y="56235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/api/student-auth/change-password — 修改密码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37760" y="5852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85232" y="5852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/api/student/me — 个人信息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37760" y="60807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85232" y="60807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/api/student/dashboard — 个人仪表盘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37760" y="63093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85232" y="6309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/api/student/certificates — 可报名证书列表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3776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85232" y="6537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/api/student/registrations — 我的报名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1040" y="5394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A8C16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68512" y="5394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/api/student/registrations — 一键报名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21040" y="56235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68512" y="56235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/api/student/exams — 我的考试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21040" y="5852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FA8C16"/>
                </a:solidFill>
                <a:latin typeface="Microsoft YaHei"/>
              </a:defRPr>
            </a:pPr>
            <a:r>
              <a:t>POST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68512" y="5852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/api/student/exams — 提交考试成绩 (含文件上传)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60807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68512" y="60807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/api/student/records — 我的证书记录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321040" y="63093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68512" y="6309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/api/student/materials — 学习资源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21040" y="65379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2C41A"/>
                </a:solidFill>
                <a:latin typeface="Microsoft YaHei"/>
              </a:defRPr>
            </a:pPr>
            <a:r>
              <a:t>GET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68512" y="6537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262626"/>
                </a:solidFill>
                <a:latin typeface="Microsoft YaHei"/>
              </a:defRPr>
            </a:pPr>
            <a:r>
              <a:t>/api/student/approved-certificates — 已通过报名的证书 (用于考试提交下拉)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Technical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5486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640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640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AI 智能审核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0058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内置三维度 AI 审核引擎，自动评估材料完整性、成绩合格性和前置条件。结果附带置信度和详细评语。预留真实 AI API 接口，可对接 GPT/Claude。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5486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640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640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JWT 双角色认证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0058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管理端 admin/super_admin + 学生端 student 双角色体系。bcrypt 密码哈希，Token 24h 有效，中间件拦截未授权请求，401 自动跳转登录。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5486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640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5560" y="6400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零配置数据库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0058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使用 sql.js（纯 JS SQLite），npm install 即用，无需安装任何数据库软件。数据自动持久化到 data.db 文件。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6060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全栈 TypeScript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0632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前后端统一 TypeScript，编译时类型检查减少运行时错误，IDE 智能提示提升开发效率。管理端和学生端共享技术栈。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6060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双端独立架构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0632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管理端 (5173) + 学生端 (5174) 两个独立 Vite 项目，共享同一后端 API。各自有独立的登录页、布局、路由和权限控制。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6060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697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批量数据处理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0632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全流程支持 Excel 批量导入（学生/报名/考试/证书记录）。按班级自动归档，一键导出 Excel 报表。xlsx 库多格式兼容。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46634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754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信息公示门户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/public 公开页面，无需登录即可查阅证书信息、培训和辅导材料。可嵌入学校官网或公众号作为信息公示页。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6634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4754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教务系统对接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标准 RESTful API 对接教务系统，支持按学号查询和批量同步。模拟数据演示，可快速替换为真实接口。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4663440"/>
            <a:ext cx="2286000" cy="1828800"/>
          </a:xfrm>
          <a:prstGeom prst="rect">
            <a:avLst/>
          </a:prstGeom>
          <a:solidFill>
            <a:srgbClr val="E6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4754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62626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60" y="4754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77FF"/>
                </a:solidFill>
                <a:latin typeface="Microsoft YaHei"/>
              </a:defRPr>
            </a:pPr>
            <a:r>
              <a:t>报名→归档闭环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512064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62626"/>
                </a:solidFill>
                <a:latin typeface="Microsoft YaHei"/>
              </a:defRPr>
            </a:pPr>
            <a:r>
              <a:t>学生报名 → 管理员审核 → 学生提交考试 → AI审核 → 人工复核 → 自动生成证书记录 → 按班归档，完整数字化闭环。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FF"/>
                </a:solidFill>
                <a:latin typeface="Microsoft YaHei"/>
              </a:defRPr>
            </a:pPr>
            <a:r>
              <a:t>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5486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77FF"/>
                </a:solidFill>
                <a:latin typeface="Microsoft YaHei"/>
              </a:defRPr>
            </a:pPr>
            <a:r>
              <a:t>✅ 系统实现的核心价值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0515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覆盖人社/专业/校内引进三类证书的全生命周期管理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990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管理端 + 学生端双平台，管理员全局管控，学生自助操作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4650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实现报名→审核→考试→AI审核→归档的完整数字化闭环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939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AI 智能审核引擎三维度自动评估，提升审核效率和标准一致性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414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JWT 双角色认证 (admin+student)，bcrypt 密码安全存储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88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支持 Excel 批量导入和按班级自动归档，大幅降低人工工作量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363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公开信息门户实现证书/培训/材料的统一公示，无需登录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48386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预留教务系统对接接口，便于跨系统数据互通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83133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全栈 TypeScript + 零配置数据库 (sql.js)，开箱即用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17880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62626"/>
                </a:solidFill>
                <a:latin typeface="Microsoft YaHei"/>
              </a:defRPr>
            </a:pPr>
            <a:r>
              <a:t>✔ 管理端 10 个功能模块 + 学生端 8 个功能模块 + 公开门户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663440"/>
            <a:ext cx="1828800" cy="10058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4754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t>API端点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4663440"/>
            <a:ext cx="1828800" cy="10058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4754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4663440"/>
            <a:ext cx="1828800" cy="10058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4754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10+8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t>功能模块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612880" y="4663440"/>
            <a:ext cx="1828800" cy="10058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58600" y="4754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5860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t>证书类型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807440" y="4663440"/>
            <a:ext cx="1828800" cy="10058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853160" y="4754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5316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t>前端应用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02000" y="4663440"/>
            <a:ext cx="1828800" cy="10058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47720" y="4754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4772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DEEFF"/>
                </a:solidFill>
                <a:latin typeface="Microsoft YaHei"/>
              </a:defRPr>
            </a:pPr>
            <a:r>
              <a:t>后端服务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5943600"/>
            <a:ext cx="6858000" cy="777240"/>
          </a:xfrm>
          <a:prstGeom prst="rect">
            <a:avLst/>
          </a:prstGeom>
          <a:solidFill>
            <a:srgbClr val="00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59893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🚀 快速启动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6263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5"/>
              </a:spcAft>
              <a:defRPr sz="900">
                <a:solidFill>
                  <a:srgbClr val="AABBCC"/>
                </a:solidFill>
                <a:latin typeface="Microsoft YaHei"/>
              </a:defRPr>
            </a:pPr>
            <a:r>
              <a:t>cd server &amp;&amp; npm run dev (端口3001)   |   cd client &amp;&amp; npm run dev (管理端:5173)   |   cd client-student &amp;&amp; npm run dev (学生端:5174)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1677FF"/>
                </a:solidFill>
                <a:latin typeface="Microsoft YaHei"/>
              </a:defRPr>
            </a:pPr>
            <a:r>
              <a:t>学生校内双证管理系统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2743200" cy="9144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📜 人社证书 · 专业证书 · 校内引进证书 — 全流程数字化管理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🔧 管理端 + 🎓 学生端 — 双平台架构，各司其职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🤖 AI 智能审核引擎 — 三维度自动评估，附置信度评分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🔐 JWT 双角色认证 — admin + student 安全体系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📦 批量导入 &amp; 按班级归档 — 高效数据管理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🌐 公开信息门户 /public — 无需登录，透明化信息公示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技术栈: React 18 + TypeScript + Ant Design 5 | Node.js + Express + SQLite (sql.js)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管理端: http://localhost:5173 | 学生端: http://localhost:5174 | 后端: http://localhost:3001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默认账号: admin / admin123 (管理端)  |  2024001 / 024001 (学生端)</a:t>
            </a: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</a:p>
          <a:p>
            <a:pPr>
              <a:spcAft>
                <a:spcPts val="546"/>
              </a:spcAft>
              <a:defRPr sz="1300">
                <a:solidFill>
                  <a:srgbClr val="99BBDD"/>
                </a:solidFill>
                <a:latin typeface="Microsoft YaHei"/>
              </a:defRPr>
            </a:pPr>
            <a:r>
              <a:t>GitHub: https://github.com/wangxiaolong0907/Dual-Certificate-Management-for-Students-on-Campus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